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Inter" panose="020B0604020202020204" charset="0"/>
      <p:regular r:id="rId12"/>
    </p:embeddedFont>
    <p:embeddedFont>
      <p:font typeface="Inter Bold" panose="020B0604020202020204" charset="0"/>
      <p:regular r:id="rId13"/>
    </p:embeddedFont>
    <p:embeddedFont>
      <p:font typeface="Inter Medium" panose="020B0604020202020204" charset="0"/>
      <p:regular r:id="rId14"/>
    </p:embeddedFont>
    <p:embeddedFont>
      <p:font typeface="Neue Montreal" panose="020B0604020202020204" charset="0"/>
      <p:regular r:id="rId15"/>
    </p:embeddedFont>
    <p:embeddedFont>
      <p:font typeface="Neue Montreal Bold" panose="020B0604020202020204" charset="0"/>
      <p:regular r:id="rId16"/>
    </p:embeddedFont>
    <p:embeddedFont>
      <p:font typeface="Neue Montreal Medium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26" Type="http://schemas.openxmlformats.org/officeDocument/2006/relationships/image" Target="../media/image37.png"/><Relationship Id="rId3" Type="http://schemas.openxmlformats.org/officeDocument/2006/relationships/image" Target="../media/image14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5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26" Type="http://schemas.openxmlformats.org/officeDocument/2006/relationships/image" Target="../media/image69.png"/><Relationship Id="rId3" Type="http://schemas.openxmlformats.org/officeDocument/2006/relationships/image" Target="../media/image46.png"/><Relationship Id="rId21" Type="http://schemas.openxmlformats.org/officeDocument/2006/relationships/image" Target="../media/image64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5" Type="http://schemas.openxmlformats.org/officeDocument/2006/relationships/image" Target="../media/image68.png"/><Relationship Id="rId2" Type="http://schemas.openxmlformats.org/officeDocument/2006/relationships/image" Target="../media/image45.png"/><Relationship Id="rId16" Type="http://schemas.openxmlformats.org/officeDocument/2006/relationships/image" Target="../media/image59.png"/><Relationship Id="rId20" Type="http://schemas.openxmlformats.org/officeDocument/2006/relationships/image" Target="../media/image63.png"/><Relationship Id="rId29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24" Type="http://schemas.openxmlformats.org/officeDocument/2006/relationships/image" Target="../media/image67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23" Type="http://schemas.openxmlformats.org/officeDocument/2006/relationships/image" Target="../media/image66.png"/><Relationship Id="rId28" Type="http://schemas.openxmlformats.org/officeDocument/2006/relationships/image" Target="../media/image71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Relationship Id="rId22" Type="http://schemas.openxmlformats.org/officeDocument/2006/relationships/image" Target="../media/image65.png"/><Relationship Id="rId27" Type="http://schemas.openxmlformats.org/officeDocument/2006/relationships/image" Target="../media/image7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18" Type="http://schemas.openxmlformats.org/officeDocument/2006/relationships/image" Target="../media/image89.png"/><Relationship Id="rId3" Type="http://schemas.openxmlformats.org/officeDocument/2006/relationships/image" Target="../media/image74.png"/><Relationship Id="rId21" Type="http://schemas.openxmlformats.org/officeDocument/2006/relationships/image" Target="../media/image92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17" Type="http://schemas.openxmlformats.org/officeDocument/2006/relationships/image" Target="../media/image88.png"/><Relationship Id="rId2" Type="http://schemas.openxmlformats.org/officeDocument/2006/relationships/image" Target="../media/image73.png"/><Relationship Id="rId16" Type="http://schemas.openxmlformats.org/officeDocument/2006/relationships/image" Target="../media/image87.png"/><Relationship Id="rId20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5" Type="http://schemas.openxmlformats.org/officeDocument/2006/relationships/image" Target="../media/image86.png"/><Relationship Id="rId10" Type="http://schemas.openxmlformats.org/officeDocument/2006/relationships/image" Target="../media/image81.png"/><Relationship Id="rId19" Type="http://schemas.openxmlformats.org/officeDocument/2006/relationships/image" Target="../media/image90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png"/><Relationship Id="rId18" Type="http://schemas.openxmlformats.org/officeDocument/2006/relationships/image" Target="../media/image115.png"/><Relationship Id="rId3" Type="http://schemas.openxmlformats.org/officeDocument/2006/relationships/image" Target="../media/image100.png"/><Relationship Id="rId21" Type="http://schemas.openxmlformats.org/officeDocument/2006/relationships/image" Target="../media/image118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17" Type="http://schemas.openxmlformats.org/officeDocument/2006/relationships/image" Target="../media/image114.png"/><Relationship Id="rId2" Type="http://schemas.openxmlformats.org/officeDocument/2006/relationships/image" Target="../media/image99.png"/><Relationship Id="rId16" Type="http://schemas.openxmlformats.org/officeDocument/2006/relationships/image" Target="../media/image113.png"/><Relationship Id="rId20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5" Type="http://schemas.openxmlformats.org/officeDocument/2006/relationships/image" Target="../media/image112.png"/><Relationship Id="rId10" Type="http://schemas.openxmlformats.org/officeDocument/2006/relationships/image" Target="../media/image107.png"/><Relationship Id="rId19" Type="http://schemas.openxmlformats.org/officeDocument/2006/relationships/image" Target="../media/image116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Relationship Id="rId14" Type="http://schemas.openxmlformats.org/officeDocument/2006/relationships/image" Target="../media/image1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image" Target="../media/image130.png"/><Relationship Id="rId18" Type="http://schemas.openxmlformats.org/officeDocument/2006/relationships/image" Target="../media/image135.png"/><Relationship Id="rId26" Type="http://schemas.openxmlformats.org/officeDocument/2006/relationships/image" Target="../media/image143.png"/><Relationship Id="rId3" Type="http://schemas.openxmlformats.org/officeDocument/2006/relationships/image" Target="../media/image120.png"/><Relationship Id="rId21" Type="http://schemas.openxmlformats.org/officeDocument/2006/relationships/image" Target="../media/image138.png"/><Relationship Id="rId7" Type="http://schemas.openxmlformats.org/officeDocument/2006/relationships/image" Target="../media/image124.png"/><Relationship Id="rId12" Type="http://schemas.openxmlformats.org/officeDocument/2006/relationships/image" Target="../media/image129.png"/><Relationship Id="rId17" Type="http://schemas.openxmlformats.org/officeDocument/2006/relationships/image" Target="../media/image134.png"/><Relationship Id="rId25" Type="http://schemas.openxmlformats.org/officeDocument/2006/relationships/image" Target="../media/image142.png"/><Relationship Id="rId2" Type="http://schemas.openxmlformats.org/officeDocument/2006/relationships/image" Target="../media/image119.png"/><Relationship Id="rId16" Type="http://schemas.openxmlformats.org/officeDocument/2006/relationships/image" Target="../media/image133.png"/><Relationship Id="rId20" Type="http://schemas.openxmlformats.org/officeDocument/2006/relationships/image" Target="../media/image137.png"/><Relationship Id="rId29" Type="http://schemas.openxmlformats.org/officeDocument/2006/relationships/image" Target="../media/image1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3.png"/><Relationship Id="rId11" Type="http://schemas.openxmlformats.org/officeDocument/2006/relationships/image" Target="../media/image128.png"/><Relationship Id="rId24" Type="http://schemas.openxmlformats.org/officeDocument/2006/relationships/image" Target="../media/image141.png"/><Relationship Id="rId32" Type="http://schemas.openxmlformats.org/officeDocument/2006/relationships/image" Target="../media/image149.png"/><Relationship Id="rId5" Type="http://schemas.openxmlformats.org/officeDocument/2006/relationships/image" Target="../media/image122.png"/><Relationship Id="rId15" Type="http://schemas.openxmlformats.org/officeDocument/2006/relationships/image" Target="../media/image132.png"/><Relationship Id="rId23" Type="http://schemas.openxmlformats.org/officeDocument/2006/relationships/image" Target="../media/image140.png"/><Relationship Id="rId28" Type="http://schemas.openxmlformats.org/officeDocument/2006/relationships/image" Target="../media/image145.png"/><Relationship Id="rId10" Type="http://schemas.openxmlformats.org/officeDocument/2006/relationships/image" Target="../media/image127.png"/><Relationship Id="rId19" Type="http://schemas.openxmlformats.org/officeDocument/2006/relationships/image" Target="../media/image136.png"/><Relationship Id="rId31" Type="http://schemas.openxmlformats.org/officeDocument/2006/relationships/image" Target="../media/image148.png"/><Relationship Id="rId4" Type="http://schemas.openxmlformats.org/officeDocument/2006/relationships/image" Target="../media/image121.png"/><Relationship Id="rId9" Type="http://schemas.openxmlformats.org/officeDocument/2006/relationships/image" Target="../media/image126.png"/><Relationship Id="rId14" Type="http://schemas.openxmlformats.org/officeDocument/2006/relationships/image" Target="../media/image131.png"/><Relationship Id="rId22" Type="http://schemas.openxmlformats.org/officeDocument/2006/relationships/image" Target="../media/image139.png"/><Relationship Id="rId27" Type="http://schemas.openxmlformats.org/officeDocument/2006/relationships/image" Target="../media/image144.png"/><Relationship Id="rId30" Type="http://schemas.openxmlformats.org/officeDocument/2006/relationships/image" Target="../media/image14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04675" y="971723"/>
            <a:ext cx="9184036" cy="3752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9"/>
              </a:lnSpc>
            </a:pPr>
            <a:r>
              <a:rPr lang="en-US" sz="7077" b="1" spc="-283">
                <a:solidFill>
                  <a:srgbClr val="F4F4F4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Road Accident</a:t>
            </a:r>
          </a:p>
          <a:p>
            <a:pPr algn="l">
              <a:lnSpc>
                <a:spcPts val="7429"/>
              </a:lnSpc>
            </a:pPr>
            <a:r>
              <a:rPr lang="en-US" sz="7077" b="1" spc="-283">
                <a:solidFill>
                  <a:srgbClr val="F4F4F4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Severity Prediction</a:t>
            </a:r>
          </a:p>
          <a:p>
            <a:pPr algn="l">
              <a:lnSpc>
                <a:spcPts val="7429"/>
              </a:lnSpc>
            </a:pPr>
            <a:r>
              <a:rPr lang="en-US" sz="7077" b="1" spc="-283">
                <a:solidFill>
                  <a:srgbClr val="F4F4F4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Using </a:t>
            </a:r>
            <a:r>
              <a:rPr lang="en-US" sz="7077" b="1" spc="-283">
                <a:solidFill>
                  <a:srgbClr val="E44018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Machine Learning Techniques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4919394"/>
            <a:ext cx="4582938" cy="229572"/>
          </a:xfrm>
          <a:custGeom>
            <a:avLst/>
            <a:gdLst/>
            <a:ahLst/>
            <a:cxnLst/>
            <a:rect l="l" t="t" r="r" b="b"/>
            <a:pathLst>
              <a:path w="4582938" h="229572">
                <a:moveTo>
                  <a:pt x="0" y="0"/>
                </a:moveTo>
                <a:lnTo>
                  <a:pt x="4582938" y="0"/>
                </a:lnTo>
                <a:lnTo>
                  <a:pt x="458293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17596" y="5350559"/>
            <a:ext cx="7891989" cy="851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 spc="-25">
                <a:solidFill>
                  <a:srgbClr val="F4F4F4"/>
                </a:solidFill>
                <a:latin typeface="Neue Montreal"/>
                <a:ea typeface="Neue Montreal"/>
                <a:cs typeface="Neue Montreal"/>
                <a:sym typeface="Neue Montreal"/>
              </a:rPr>
              <a:t>An Intelligent Approach to Road Safety Analysis and Accident Severity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1112804" cy="7936623"/>
          </a:xfrm>
          <a:custGeom>
            <a:avLst/>
            <a:gdLst/>
            <a:ahLst/>
            <a:cxnLst/>
            <a:rect l="l" t="t" r="r" b="b"/>
            <a:pathLst>
              <a:path w="11112804" h="7936623">
                <a:moveTo>
                  <a:pt x="0" y="0"/>
                </a:moveTo>
                <a:lnTo>
                  <a:pt x="11112804" y="0"/>
                </a:lnTo>
                <a:lnTo>
                  <a:pt x="11112804" y="7936623"/>
                </a:lnTo>
                <a:lnTo>
                  <a:pt x="0" y="79366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55270" y="636498"/>
            <a:ext cx="4124570" cy="439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b="1">
                <a:solidFill>
                  <a:srgbClr val="F0F0F0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237" y="1241148"/>
            <a:ext cx="5627886" cy="821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87"/>
              </a:lnSpc>
            </a:pPr>
            <a:r>
              <a:rPr lang="en-US" sz="6287" b="1">
                <a:solidFill>
                  <a:srgbClr val="F0F0F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Why Predicting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2324" y="2039372"/>
            <a:ext cx="5419113" cy="821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87"/>
              </a:lnSpc>
            </a:pPr>
            <a:r>
              <a:rPr lang="en-US" sz="6287" b="1">
                <a:solidFill>
                  <a:srgbClr val="E8412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Road Accident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5368" y="2837597"/>
            <a:ext cx="6114749" cy="821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87"/>
              </a:lnSpc>
            </a:pPr>
            <a:r>
              <a:rPr lang="en-US" sz="6287" b="1">
                <a:solidFill>
                  <a:srgbClr val="F0F0F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Severity Matters</a:t>
            </a:r>
          </a:p>
        </p:txBody>
      </p:sp>
      <p:sp>
        <p:nvSpPr>
          <p:cNvPr id="8" name="Freeform 8"/>
          <p:cNvSpPr/>
          <p:nvPr/>
        </p:nvSpPr>
        <p:spPr>
          <a:xfrm>
            <a:off x="645330" y="3848060"/>
            <a:ext cx="4582938" cy="229572"/>
          </a:xfrm>
          <a:custGeom>
            <a:avLst/>
            <a:gdLst/>
            <a:ahLst/>
            <a:cxnLst/>
            <a:rect l="l" t="t" r="r" b="b"/>
            <a:pathLst>
              <a:path w="4582938" h="229572">
                <a:moveTo>
                  <a:pt x="0" y="0"/>
                </a:moveTo>
                <a:lnTo>
                  <a:pt x="4582938" y="0"/>
                </a:lnTo>
                <a:lnTo>
                  <a:pt x="458293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48558" y="4314504"/>
            <a:ext cx="4795728" cy="54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lang="en-US" sz="1986" spc="-59">
                <a:solidFill>
                  <a:srgbClr val="F0F0F0"/>
                </a:solidFill>
                <a:latin typeface="Inter"/>
                <a:ea typeface="Inter"/>
                <a:cs typeface="Inter"/>
                <a:sym typeface="Inter"/>
              </a:rPr>
              <a:t>Road accidents cause significant injuries,</a:t>
            </a:r>
          </a:p>
          <a:p>
            <a:pPr algn="l">
              <a:lnSpc>
                <a:spcPts val="2184"/>
              </a:lnSpc>
            </a:pPr>
            <a:r>
              <a:rPr lang="en-US" sz="1986" spc="-59">
                <a:solidFill>
                  <a:srgbClr val="F0F0F0"/>
                </a:solidFill>
                <a:latin typeface="Inter"/>
                <a:ea typeface="Inter"/>
                <a:cs typeface="Inter"/>
                <a:sym typeface="Inter"/>
              </a:rPr>
              <a:t>fatalities, and economic losses worldwide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35843" y="5157911"/>
            <a:ext cx="6067264" cy="54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lang="en-US" sz="1986" spc="-59">
                <a:solidFill>
                  <a:srgbClr val="F0F0F0"/>
                </a:solidFill>
                <a:latin typeface="Inter"/>
                <a:ea typeface="Inter"/>
                <a:cs typeface="Inter"/>
                <a:sym typeface="Inter"/>
              </a:rPr>
              <a:t>Severity is influenced by interacting factors</a:t>
            </a:r>
          </a:p>
          <a:p>
            <a:pPr algn="l">
              <a:lnSpc>
                <a:spcPts val="2184"/>
              </a:lnSpc>
            </a:pPr>
            <a:r>
              <a:rPr lang="en-US" sz="1986" spc="-59">
                <a:solidFill>
                  <a:srgbClr val="F0F0F0"/>
                </a:solidFill>
                <a:latin typeface="Inter"/>
                <a:ea typeface="Inter"/>
                <a:cs typeface="Inter"/>
                <a:sym typeface="Inter"/>
              </a:rPr>
              <a:t>such as weather, road, vehicle, and human elements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7379" y="6001318"/>
            <a:ext cx="5913712" cy="54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lang="en-US" sz="1986" spc="-59">
                <a:solidFill>
                  <a:srgbClr val="F0F0F0"/>
                </a:solidFill>
                <a:latin typeface="Inter"/>
                <a:ea typeface="Inter"/>
                <a:cs typeface="Inter"/>
                <a:sym typeface="Inter"/>
              </a:rPr>
              <a:t>Traditional statistical methods fall short in capturing complex nonlinear patterns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8216" y="6844725"/>
            <a:ext cx="6829976" cy="54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lang="en-US" sz="1986" spc="-59">
                <a:solidFill>
                  <a:srgbClr val="F0F0F0"/>
                </a:solidFill>
                <a:latin typeface="Inter"/>
                <a:ea typeface="Inter"/>
                <a:cs typeface="Inter"/>
                <a:sym typeface="Inter"/>
              </a:rPr>
              <a:t>Machine learning models can improve risk assessment and support timely preventive actions</a:t>
            </a:r>
          </a:p>
        </p:txBody>
      </p:sp>
      <p:sp>
        <p:nvSpPr>
          <p:cNvPr id="13" name="Freeform 13"/>
          <p:cNvSpPr/>
          <p:nvPr/>
        </p:nvSpPr>
        <p:spPr>
          <a:xfrm>
            <a:off x="426574" y="7707051"/>
            <a:ext cx="17434852" cy="2579949"/>
          </a:xfrm>
          <a:custGeom>
            <a:avLst/>
            <a:gdLst/>
            <a:ahLst/>
            <a:cxnLst/>
            <a:rect l="l" t="t" r="r" b="b"/>
            <a:pathLst>
              <a:path w="17434852" h="2579949">
                <a:moveTo>
                  <a:pt x="0" y="0"/>
                </a:moveTo>
                <a:lnTo>
                  <a:pt x="17434852" y="0"/>
                </a:lnTo>
                <a:lnTo>
                  <a:pt x="1743485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71562" y="8323779"/>
            <a:ext cx="1741289" cy="1071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b="1" spc="-67">
                <a:solidFill>
                  <a:srgbClr val="F0F0F0"/>
                </a:solidFill>
                <a:latin typeface="Inter Bold"/>
                <a:ea typeface="Inter Bold"/>
                <a:cs typeface="Inter Bold"/>
                <a:sym typeface="Inter Bold"/>
              </a:rPr>
              <a:t>ACCIDENT</a:t>
            </a:r>
          </a:p>
          <a:p>
            <a:pPr algn="l">
              <a:lnSpc>
                <a:spcPts val="2930"/>
              </a:lnSpc>
            </a:pPr>
            <a:r>
              <a:rPr lang="en-US" sz="2254" b="1" spc="-67">
                <a:solidFill>
                  <a:srgbClr val="F0F0F0"/>
                </a:solidFill>
                <a:latin typeface="Inter Bold"/>
                <a:ea typeface="Inter Bold"/>
                <a:cs typeface="Inter Bold"/>
                <a:sym typeface="Inter Bold"/>
              </a:rPr>
              <a:t>SEVERITY</a:t>
            </a:r>
          </a:p>
          <a:p>
            <a:pPr algn="l">
              <a:lnSpc>
                <a:spcPts val="2930"/>
              </a:lnSpc>
            </a:pPr>
            <a:r>
              <a:rPr lang="en-US" sz="2254" b="1" spc="-67">
                <a:solidFill>
                  <a:srgbClr val="F0F0F0"/>
                </a:solidFill>
                <a:latin typeface="Inter Bold"/>
                <a:ea typeface="Inter Bold"/>
                <a:cs typeface="Inter Bold"/>
                <a:sym typeface="Inter Bold"/>
              </a:rPr>
              <a:t>LEVELS</a:t>
            </a:r>
          </a:p>
        </p:txBody>
      </p:sp>
      <p:sp>
        <p:nvSpPr>
          <p:cNvPr id="15" name="Freeform 15"/>
          <p:cNvSpPr/>
          <p:nvPr/>
        </p:nvSpPr>
        <p:spPr>
          <a:xfrm>
            <a:off x="3259464" y="7925691"/>
            <a:ext cx="3062584" cy="2153601"/>
          </a:xfrm>
          <a:custGeom>
            <a:avLst/>
            <a:gdLst/>
            <a:ahLst/>
            <a:cxnLst/>
            <a:rect l="l" t="t" r="r" b="b"/>
            <a:pathLst>
              <a:path w="3062584" h="2153601">
                <a:moveTo>
                  <a:pt x="0" y="0"/>
                </a:moveTo>
                <a:lnTo>
                  <a:pt x="3062584" y="0"/>
                </a:lnTo>
                <a:lnTo>
                  <a:pt x="306258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4246883" y="8278058"/>
            <a:ext cx="858296" cy="46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4"/>
              </a:lnSpc>
            </a:pPr>
            <a:r>
              <a:rPr lang="en-US" sz="2896" b="1" spc="-86">
                <a:solidFill>
                  <a:srgbClr val="0B1931"/>
                </a:solidFill>
                <a:latin typeface="Inter Bold"/>
                <a:ea typeface="Inter Bold"/>
                <a:cs typeface="Inter Bold"/>
                <a:sym typeface="Inter Bold"/>
              </a:rPr>
              <a:t>LOW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91284" y="8909226"/>
            <a:ext cx="1769493" cy="54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6"/>
              </a:lnSpc>
            </a:pPr>
            <a:r>
              <a:rPr lang="en-US" sz="1863" b="1" spc="-55">
                <a:solidFill>
                  <a:srgbClr val="0B1931"/>
                </a:solidFill>
                <a:latin typeface="Inter Medium"/>
                <a:ea typeface="Inter Medium"/>
                <a:cs typeface="Inter Medium"/>
                <a:sym typeface="Inter Medium"/>
              </a:rPr>
              <a:t>Minor injuries,</a:t>
            </a:r>
          </a:p>
          <a:p>
            <a:pPr algn="ctr">
              <a:lnSpc>
                <a:spcPts val="2236"/>
              </a:lnSpc>
            </a:pPr>
            <a:r>
              <a:rPr lang="en-US" sz="1863" b="1" spc="-55">
                <a:solidFill>
                  <a:srgbClr val="0B1931"/>
                </a:solidFill>
                <a:latin typeface="Inter Medium"/>
                <a:ea typeface="Inter Medium"/>
                <a:cs typeface="Inter Medium"/>
                <a:sym typeface="Inter Medium"/>
              </a:rPr>
              <a:t>minimal damage</a:t>
            </a:r>
          </a:p>
        </p:txBody>
      </p:sp>
      <p:sp>
        <p:nvSpPr>
          <p:cNvPr id="18" name="Freeform 18"/>
          <p:cNvSpPr/>
          <p:nvPr/>
        </p:nvSpPr>
        <p:spPr>
          <a:xfrm>
            <a:off x="6311110" y="8570678"/>
            <a:ext cx="656268" cy="863627"/>
          </a:xfrm>
          <a:custGeom>
            <a:avLst/>
            <a:gdLst/>
            <a:ahLst/>
            <a:cxnLst/>
            <a:rect l="l" t="t" r="r" b="b"/>
            <a:pathLst>
              <a:path w="656268" h="863627">
                <a:moveTo>
                  <a:pt x="0" y="0"/>
                </a:moveTo>
                <a:lnTo>
                  <a:pt x="656268" y="0"/>
                </a:lnTo>
                <a:lnTo>
                  <a:pt x="65626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6956440" y="7925691"/>
            <a:ext cx="3062584" cy="2153601"/>
          </a:xfrm>
          <a:custGeom>
            <a:avLst/>
            <a:gdLst/>
            <a:ahLst/>
            <a:cxnLst/>
            <a:rect l="l" t="t" r="r" b="b"/>
            <a:pathLst>
              <a:path w="3062584" h="2153601">
                <a:moveTo>
                  <a:pt x="0" y="0"/>
                </a:moveTo>
                <a:lnTo>
                  <a:pt x="3062584" y="0"/>
                </a:lnTo>
                <a:lnTo>
                  <a:pt x="306258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7671129" y="8278058"/>
            <a:ext cx="1511812" cy="46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4"/>
              </a:lnSpc>
            </a:pPr>
            <a:r>
              <a:rPr lang="en-US" sz="2896" b="1" spc="-86">
                <a:solidFill>
                  <a:srgbClr val="0B1931"/>
                </a:solidFill>
                <a:latin typeface="Inter Bold"/>
                <a:ea typeface="Inter Bold"/>
                <a:cs typeface="Inter Bold"/>
                <a:sym typeface="Inter Bold"/>
              </a:rPr>
              <a:t>MEDIUM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61988" y="8909226"/>
            <a:ext cx="1930095" cy="54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6"/>
              </a:lnSpc>
            </a:pPr>
            <a:r>
              <a:rPr lang="en-US" sz="1863" b="1" spc="-55">
                <a:solidFill>
                  <a:srgbClr val="0B1931"/>
                </a:solidFill>
                <a:latin typeface="Inter Medium"/>
                <a:ea typeface="Inter Medium"/>
                <a:cs typeface="Inter Medium"/>
                <a:sym typeface="Inter Medium"/>
              </a:rPr>
              <a:t>Moderate injuries,</a:t>
            </a:r>
          </a:p>
          <a:p>
            <a:pPr algn="ctr">
              <a:lnSpc>
                <a:spcPts val="2236"/>
              </a:lnSpc>
            </a:pPr>
            <a:r>
              <a:rPr lang="en-US" sz="1863" b="1" spc="-55">
                <a:solidFill>
                  <a:srgbClr val="0B1931"/>
                </a:solidFill>
                <a:latin typeface="Inter Medium"/>
                <a:ea typeface="Inter Medium"/>
                <a:cs typeface="Inter Medium"/>
                <a:sym typeface="Inter Medium"/>
              </a:rPr>
              <a:t>vehicle damage</a:t>
            </a:r>
          </a:p>
        </p:txBody>
      </p:sp>
      <p:sp>
        <p:nvSpPr>
          <p:cNvPr id="22" name="Freeform 22"/>
          <p:cNvSpPr/>
          <p:nvPr/>
        </p:nvSpPr>
        <p:spPr>
          <a:xfrm>
            <a:off x="10008086" y="8570678"/>
            <a:ext cx="667206" cy="863627"/>
          </a:xfrm>
          <a:custGeom>
            <a:avLst/>
            <a:gdLst/>
            <a:ahLst/>
            <a:cxnLst/>
            <a:rect l="l" t="t" r="r" b="b"/>
            <a:pathLst>
              <a:path w="667206" h="863627">
                <a:moveTo>
                  <a:pt x="0" y="0"/>
                </a:moveTo>
                <a:lnTo>
                  <a:pt x="667206" y="0"/>
                </a:lnTo>
                <a:lnTo>
                  <a:pt x="667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0664354" y="7925691"/>
            <a:ext cx="3051646" cy="2153601"/>
          </a:xfrm>
          <a:custGeom>
            <a:avLst/>
            <a:gdLst/>
            <a:ahLst/>
            <a:cxnLst/>
            <a:rect l="l" t="t" r="r" b="b"/>
            <a:pathLst>
              <a:path w="3051646" h="2153601">
                <a:moveTo>
                  <a:pt x="0" y="0"/>
                </a:moveTo>
                <a:lnTo>
                  <a:pt x="3051646" y="0"/>
                </a:lnTo>
                <a:lnTo>
                  <a:pt x="305164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1687427" y="8278058"/>
            <a:ext cx="902466" cy="46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4"/>
              </a:lnSpc>
            </a:pPr>
            <a:r>
              <a:rPr lang="en-US" sz="2896" b="1" spc="-86">
                <a:solidFill>
                  <a:srgbClr val="F0F0F0"/>
                </a:solidFill>
                <a:latin typeface="Inter Bold"/>
                <a:ea typeface="Inter Bold"/>
                <a:cs typeface="Inter Bold"/>
                <a:sym typeface="Inter Bold"/>
              </a:rPr>
              <a:t>HIGH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329887" y="8848982"/>
            <a:ext cx="1617546" cy="812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6"/>
              </a:lnSpc>
            </a:pPr>
            <a:r>
              <a:rPr lang="en-US" sz="1863" spc="-55">
                <a:solidFill>
                  <a:srgbClr val="F0F0F0"/>
                </a:solidFill>
                <a:latin typeface="Inter"/>
                <a:ea typeface="Inter"/>
                <a:cs typeface="Inter"/>
                <a:sym typeface="Inter"/>
              </a:rPr>
              <a:t>Severe injuries,</a:t>
            </a:r>
          </a:p>
          <a:p>
            <a:pPr algn="ctr">
              <a:lnSpc>
                <a:spcPts val="2236"/>
              </a:lnSpc>
            </a:pPr>
            <a:r>
              <a:rPr lang="en-US" sz="1863" spc="-55">
                <a:solidFill>
                  <a:srgbClr val="F0F0F0"/>
                </a:solidFill>
                <a:latin typeface="Inter"/>
                <a:ea typeface="Inter"/>
                <a:cs typeface="Inter"/>
                <a:sym typeface="Inter"/>
              </a:rPr>
              <a:t>major damage,</a:t>
            </a:r>
          </a:p>
          <a:p>
            <a:pPr algn="ctr">
              <a:lnSpc>
                <a:spcPts val="2236"/>
              </a:lnSpc>
            </a:pPr>
            <a:r>
              <a:rPr lang="en-US" sz="1863" spc="-55">
                <a:solidFill>
                  <a:srgbClr val="F0F0F0"/>
                </a:solidFill>
                <a:latin typeface="Inter"/>
                <a:ea typeface="Inter"/>
                <a:cs typeface="Inter"/>
                <a:sym typeface="Inter"/>
              </a:rPr>
              <a:t>fatalities</a:t>
            </a:r>
          </a:p>
        </p:txBody>
      </p:sp>
      <p:sp>
        <p:nvSpPr>
          <p:cNvPr id="26" name="Freeform 26"/>
          <p:cNvSpPr/>
          <p:nvPr/>
        </p:nvSpPr>
        <p:spPr>
          <a:xfrm>
            <a:off x="13923818" y="7925691"/>
            <a:ext cx="229694" cy="1934962"/>
          </a:xfrm>
          <a:custGeom>
            <a:avLst/>
            <a:gdLst/>
            <a:ahLst/>
            <a:cxnLst/>
            <a:rect l="l" t="t" r="r" b="b"/>
            <a:pathLst>
              <a:path w="229694" h="1934962">
                <a:moveTo>
                  <a:pt x="0" y="0"/>
                </a:moveTo>
                <a:lnTo>
                  <a:pt x="229694" y="0"/>
                </a:lnTo>
                <a:lnTo>
                  <a:pt x="229694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4659925" y="8522981"/>
            <a:ext cx="2048087" cy="120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 spc="-57">
                <a:solidFill>
                  <a:srgbClr val="F0F0F0"/>
                </a:solidFill>
                <a:latin typeface="Inter"/>
                <a:ea typeface="Inter"/>
                <a:cs typeface="Inter"/>
                <a:sym typeface="Inter"/>
              </a:rPr>
              <a:t>Human suffering</a:t>
            </a:r>
          </a:p>
          <a:p>
            <a:pPr algn="l">
              <a:lnSpc>
                <a:spcPts val="2490"/>
              </a:lnSpc>
            </a:pPr>
            <a:r>
              <a:rPr lang="en-US" sz="1916" spc="-57">
                <a:solidFill>
                  <a:srgbClr val="F0F0F0"/>
                </a:solidFill>
                <a:latin typeface="Inter"/>
                <a:ea typeface="Inter"/>
                <a:cs typeface="Inter"/>
                <a:sym typeface="Inter"/>
              </a:rPr>
              <a:t>Economic losses</a:t>
            </a:r>
          </a:p>
          <a:p>
            <a:pPr algn="l">
              <a:lnSpc>
                <a:spcPts val="2490"/>
              </a:lnSpc>
            </a:pPr>
            <a:r>
              <a:rPr lang="en-US" sz="1916" spc="-57">
                <a:solidFill>
                  <a:srgbClr val="F0F0F0"/>
                </a:solidFill>
                <a:latin typeface="Inter"/>
                <a:ea typeface="Inter"/>
                <a:cs typeface="Inter"/>
                <a:sym typeface="Inter"/>
              </a:rPr>
              <a:t>Healthcare burden</a:t>
            </a:r>
          </a:p>
          <a:p>
            <a:pPr algn="l">
              <a:lnSpc>
                <a:spcPts val="2490"/>
              </a:lnSpc>
            </a:pPr>
            <a:r>
              <a:rPr lang="en-US" sz="1916" spc="-57">
                <a:solidFill>
                  <a:srgbClr val="F0F0F0"/>
                </a:solidFill>
                <a:latin typeface="Inter"/>
                <a:ea typeface="Inter"/>
                <a:cs typeface="Inter"/>
                <a:sym typeface="Inter"/>
              </a:rPr>
              <a:t>Traffic disruptions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680406" y="8063283"/>
            <a:ext cx="2437805" cy="357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b="1" spc="-67">
                <a:solidFill>
                  <a:srgbClr val="E84120"/>
                </a:solidFill>
                <a:latin typeface="Inter Bold"/>
                <a:ea typeface="Inter Bold"/>
                <a:cs typeface="Inter Bold"/>
                <a:sym typeface="Inter Bold"/>
              </a:rPr>
              <a:t>IMPACT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99736" y="755775"/>
            <a:ext cx="7714714" cy="1070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7124" b="1">
                <a:solidFill>
                  <a:srgbClr val="F6F6F6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Project Objectives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1924030"/>
            <a:ext cx="4582938" cy="229572"/>
          </a:xfrm>
          <a:custGeom>
            <a:avLst/>
            <a:gdLst/>
            <a:ahLst/>
            <a:cxnLst/>
            <a:rect l="l" t="t" r="r" b="b"/>
            <a:pathLst>
              <a:path w="4582938" h="229572">
                <a:moveTo>
                  <a:pt x="0" y="0"/>
                </a:moveTo>
                <a:lnTo>
                  <a:pt x="4582938" y="0"/>
                </a:lnTo>
                <a:lnTo>
                  <a:pt x="458293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98373" y="2405423"/>
            <a:ext cx="7850949" cy="835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b="1" spc="-68">
                <a:solidFill>
                  <a:srgbClr val="D9D9D9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Six core objectives guiding our machine learning approach to road accident severity prediction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4493047"/>
            <a:ext cx="2625072" cy="4088563"/>
          </a:xfrm>
          <a:custGeom>
            <a:avLst/>
            <a:gdLst/>
            <a:ahLst/>
            <a:cxnLst/>
            <a:rect l="l" t="t" r="r" b="b"/>
            <a:pathLst>
              <a:path w="2625072" h="4088563">
                <a:moveTo>
                  <a:pt x="0" y="0"/>
                </a:moveTo>
                <a:lnTo>
                  <a:pt x="2625072" y="0"/>
                </a:lnTo>
                <a:lnTo>
                  <a:pt x="2625072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5330" y="4285339"/>
            <a:ext cx="667206" cy="644987"/>
          </a:xfrm>
          <a:custGeom>
            <a:avLst/>
            <a:gdLst/>
            <a:ahLst/>
            <a:cxnLst/>
            <a:rect l="l" t="t" r="r" b="b"/>
            <a:pathLst>
              <a:path w="667206" h="644987">
                <a:moveTo>
                  <a:pt x="0" y="0"/>
                </a:moveTo>
                <a:lnTo>
                  <a:pt x="667206" y="0"/>
                </a:lnTo>
                <a:lnTo>
                  <a:pt x="66720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01598" y="4919394"/>
            <a:ext cx="1312536" cy="1300906"/>
          </a:xfrm>
          <a:custGeom>
            <a:avLst/>
            <a:gdLst/>
            <a:ahLst/>
            <a:cxnLst/>
            <a:rect l="l" t="t" r="r" b="b"/>
            <a:pathLst>
              <a:path w="1312536" h="1300906">
                <a:moveTo>
                  <a:pt x="0" y="0"/>
                </a:moveTo>
                <a:lnTo>
                  <a:pt x="1312536" y="0"/>
                </a:lnTo>
                <a:lnTo>
                  <a:pt x="1312536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162022" y="6396378"/>
            <a:ext cx="1669688" cy="1606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b="1" spc="-51">
                <a:solidFill>
                  <a:srgbClr val="D9D9D9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Collect and preprocess comprehensive road accident</a:t>
            </a:r>
          </a:p>
          <a:p>
            <a:pPr algn="l">
              <a:lnSpc>
                <a:spcPts val="2610"/>
              </a:lnSpc>
            </a:pPr>
            <a:r>
              <a:rPr lang="en-US" sz="1740" b="1" spc="-51">
                <a:solidFill>
                  <a:srgbClr val="D9D9D9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data for analysis</a:t>
            </a:r>
          </a:p>
        </p:txBody>
      </p:sp>
      <p:sp>
        <p:nvSpPr>
          <p:cNvPr id="10" name="Freeform 10"/>
          <p:cNvSpPr/>
          <p:nvPr/>
        </p:nvSpPr>
        <p:spPr>
          <a:xfrm>
            <a:off x="3040708" y="5356674"/>
            <a:ext cx="667206" cy="644987"/>
          </a:xfrm>
          <a:custGeom>
            <a:avLst/>
            <a:gdLst/>
            <a:ahLst/>
            <a:cxnLst/>
            <a:rect l="l" t="t" r="r" b="b"/>
            <a:pathLst>
              <a:path w="667206" h="644987">
                <a:moveTo>
                  <a:pt x="0" y="0"/>
                </a:moveTo>
                <a:lnTo>
                  <a:pt x="667206" y="0"/>
                </a:lnTo>
                <a:lnTo>
                  <a:pt x="66720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478220" y="4493047"/>
            <a:ext cx="2625072" cy="4088563"/>
          </a:xfrm>
          <a:custGeom>
            <a:avLst/>
            <a:gdLst/>
            <a:ahLst/>
            <a:cxnLst/>
            <a:rect l="l" t="t" r="r" b="b"/>
            <a:pathLst>
              <a:path w="2625072" h="4088563">
                <a:moveTo>
                  <a:pt x="0" y="0"/>
                </a:moveTo>
                <a:lnTo>
                  <a:pt x="2625072" y="0"/>
                </a:lnTo>
                <a:lnTo>
                  <a:pt x="2625072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478220" y="4285339"/>
            <a:ext cx="667206" cy="644987"/>
          </a:xfrm>
          <a:custGeom>
            <a:avLst/>
            <a:gdLst/>
            <a:ahLst/>
            <a:cxnLst/>
            <a:rect l="l" t="t" r="r" b="b"/>
            <a:pathLst>
              <a:path w="667206" h="644987">
                <a:moveTo>
                  <a:pt x="0" y="0"/>
                </a:moveTo>
                <a:lnTo>
                  <a:pt x="667206" y="0"/>
                </a:lnTo>
                <a:lnTo>
                  <a:pt x="66720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134488" y="4919394"/>
            <a:ext cx="1531292" cy="1300906"/>
          </a:xfrm>
          <a:custGeom>
            <a:avLst/>
            <a:gdLst/>
            <a:ahLst/>
            <a:cxnLst/>
            <a:rect l="l" t="t" r="r" b="b"/>
            <a:pathLst>
              <a:path w="1531292" h="1300906">
                <a:moveTo>
                  <a:pt x="0" y="0"/>
                </a:moveTo>
                <a:lnTo>
                  <a:pt x="1531292" y="0"/>
                </a:lnTo>
                <a:lnTo>
                  <a:pt x="1531292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864095" y="6396378"/>
            <a:ext cx="2031857" cy="1606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b="1" spc="-51">
                <a:solidFill>
                  <a:srgbClr val="D9D9D9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Identify and</a:t>
            </a:r>
          </a:p>
          <a:p>
            <a:pPr algn="l">
              <a:lnSpc>
                <a:spcPts val="2610"/>
              </a:lnSpc>
            </a:pPr>
            <a:r>
              <a:rPr lang="en-US" sz="1740" b="1" spc="-51">
                <a:solidFill>
                  <a:srgbClr val="D9D9D9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select important accident-related features influencing severity</a:t>
            </a:r>
          </a:p>
        </p:txBody>
      </p:sp>
      <p:sp>
        <p:nvSpPr>
          <p:cNvPr id="15" name="Freeform 15"/>
          <p:cNvSpPr/>
          <p:nvPr/>
        </p:nvSpPr>
        <p:spPr>
          <a:xfrm>
            <a:off x="5873598" y="5356674"/>
            <a:ext cx="667206" cy="644987"/>
          </a:xfrm>
          <a:custGeom>
            <a:avLst/>
            <a:gdLst/>
            <a:ahLst/>
            <a:cxnLst/>
            <a:rect l="l" t="t" r="r" b="b"/>
            <a:pathLst>
              <a:path w="667206" h="644987">
                <a:moveTo>
                  <a:pt x="0" y="0"/>
                </a:moveTo>
                <a:lnTo>
                  <a:pt x="667206" y="0"/>
                </a:lnTo>
                <a:lnTo>
                  <a:pt x="66720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6311110" y="4493047"/>
            <a:ext cx="2625072" cy="4088563"/>
          </a:xfrm>
          <a:custGeom>
            <a:avLst/>
            <a:gdLst/>
            <a:ahLst/>
            <a:cxnLst/>
            <a:rect l="l" t="t" r="r" b="b"/>
            <a:pathLst>
              <a:path w="2625072" h="4088563">
                <a:moveTo>
                  <a:pt x="0" y="0"/>
                </a:moveTo>
                <a:lnTo>
                  <a:pt x="2625072" y="0"/>
                </a:lnTo>
                <a:lnTo>
                  <a:pt x="2625072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311110" y="4285339"/>
            <a:ext cx="875024" cy="644987"/>
          </a:xfrm>
          <a:custGeom>
            <a:avLst/>
            <a:gdLst/>
            <a:ahLst/>
            <a:cxnLst/>
            <a:rect l="l" t="t" r="r" b="b"/>
            <a:pathLst>
              <a:path w="875024" h="644987">
                <a:moveTo>
                  <a:pt x="0" y="0"/>
                </a:moveTo>
                <a:lnTo>
                  <a:pt x="875024" y="0"/>
                </a:lnTo>
                <a:lnTo>
                  <a:pt x="87502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7175196" y="4919394"/>
            <a:ext cx="1323474" cy="1300906"/>
          </a:xfrm>
          <a:custGeom>
            <a:avLst/>
            <a:gdLst/>
            <a:ahLst/>
            <a:cxnLst/>
            <a:rect l="l" t="t" r="r" b="b"/>
            <a:pathLst>
              <a:path w="1323474" h="1300906">
                <a:moveTo>
                  <a:pt x="0" y="0"/>
                </a:moveTo>
                <a:lnTo>
                  <a:pt x="1323474" y="0"/>
                </a:lnTo>
                <a:lnTo>
                  <a:pt x="132347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787310" y="6396378"/>
            <a:ext cx="1711150" cy="1606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b="1" spc="-51">
                <a:solidFill>
                  <a:srgbClr val="D9D9D9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Handle missing</a:t>
            </a:r>
          </a:p>
          <a:p>
            <a:pPr algn="l">
              <a:lnSpc>
                <a:spcPts val="2610"/>
              </a:lnSpc>
            </a:pPr>
            <a:r>
              <a:rPr lang="en-US" sz="1740" b="1" spc="-51">
                <a:solidFill>
                  <a:srgbClr val="D9D9D9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data and encode categorical</a:t>
            </a:r>
          </a:p>
          <a:p>
            <a:pPr algn="l">
              <a:lnSpc>
                <a:spcPts val="2610"/>
              </a:lnSpc>
            </a:pPr>
            <a:r>
              <a:rPr lang="en-US" sz="1740" b="1" spc="-51">
                <a:solidFill>
                  <a:srgbClr val="D9D9D9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variables</a:t>
            </a:r>
          </a:p>
          <a:p>
            <a:pPr algn="l">
              <a:lnSpc>
                <a:spcPts val="2610"/>
              </a:lnSpc>
            </a:pPr>
            <a:r>
              <a:rPr lang="en-US" sz="1740" b="1" spc="-51">
                <a:solidFill>
                  <a:srgbClr val="D9D9D9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effectively</a:t>
            </a:r>
          </a:p>
        </p:txBody>
      </p:sp>
      <p:sp>
        <p:nvSpPr>
          <p:cNvPr id="20" name="Freeform 20"/>
          <p:cNvSpPr/>
          <p:nvPr/>
        </p:nvSpPr>
        <p:spPr>
          <a:xfrm>
            <a:off x="8925244" y="5356674"/>
            <a:ext cx="437512" cy="644987"/>
          </a:xfrm>
          <a:custGeom>
            <a:avLst/>
            <a:gdLst/>
            <a:ahLst/>
            <a:cxnLst/>
            <a:rect l="l" t="t" r="r" b="b"/>
            <a:pathLst>
              <a:path w="437512" h="644987">
                <a:moveTo>
                  <a:pt x="0" y="0"/>
                </a:moveTo>
                <a:lnTo>
                  <a:pt x="437512" y="0"/>
                </a:lnTo>
                <a:lnTo>
                  <a:pt x="43751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144000" y="4493047"/>
            <a:ext cx="2832890" cy="4088563"/>
          </a:xfrm>
          <a:custGeom>
            <a:avLst/>
            <a:gdLst/>
            <a:ahLst/>
            <a:cxnLst/>
            <a:rect l="l" t="t" r="r" b="b"/>
            <a:pathLst>
              <a:path w="2832890" h="4088563">
                <a:moveTo>
                  <a:pt x="0" y="0"/>
                </a:moveTo>
                <a:lnTo>
                  <a:pt x="2832890" y="0"/>
                </a:lnTo>
                <a:lnTo>
                  <a:pt x="2832890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9144000" y="4285339"/>
            <a:ext cx="875024" cy="644987"/>
          </a:xfrm>
          <a:custGeom>
            <a:avLst/>
            <a:gdLst/>
            <a:ahLst/>
            <a:cxnLst/>
            <a:rect l="l" t="t" r="r" b="b"/>
            <a:pathLst>
              <a:path w="875024" h="644987">
                <a:moveTo>
                  <a:pt x="0" y="0"/>
                </a:moveTo>
                <a:lnTo>
                  <a:pt x="875024" y="0"/>
                </a:lnTo>
                <a:lnTo>
                  <a:pt x="87502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0008086" y="4919394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9653332" y="6396378"/>
            <a:ext cx="1751928" cy="1606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b="1" spc="-51">
                <a:solidFill>
                  <a:srgbClr val="D9D9D9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Train multiple machine learning classification models on</a:t>
            </a:r>
          </a:p>
          <a:p>
            <a:pPr algn="l">
              <a:lnSpc>
                <a:spcPts val="2610"/>
              </a:lnSpc>
            </a:pPr>
            <a:r>
              <a:rPr lang="en-US" sz="1740" b="1" spc="-51">
                <a:solidFill>
                  <a:srgbClr val="D9D9D9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processed data</a:t>
            </a:r>
          </a:p>
        </p:txBody>
      </p:sp>
      <p:sp>
        <p:nvSpPr>
          <p:cNvPr id="25" name="Freeform 25"/>
          <p:cNvSpPr/>
          <p:nvPr/>
        </p:nvSpPr>
        <p:spPr>
          <a:xfrm>
            <a:off x="11747196" y="5356674"/>
            <a:ext cx="448450" cy="644987"/>
          </a:xfrm>
          <a:custGeom>
            <a:avLst/>
            <a:gdLst/>
            <a:ahLst/>
            <a:cxnLst/>
            <a:rect l="l" t="t" r="r" b="b"/>
            <a:pathLst>
              <a:path w="448450" h="644987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1965952" y="4493047"/>
            <a:ext cx="2843828" cy="4088563"/>
          </a:xfrm>
          <a:custGeom>
            <a:avLst/>
            <a:gdLst/>
            <a:ahLst/>
            <a:cxnLst/>
            <a:rect l="l" t="t" r="r" b="b"/>
            <a:pathLst>
              <a:path w="2843828" h="4088563">
                <a:moveTo>
                  <a:pt x="0" y="0"/>
                </a:moveTo>
                <a:lnTo>
                  <a:pt x="2843828" y="0"/>
                </a:lnTo>
                <a:lnTo>
                  <a:pt x="2843828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1965952" y="4285339"/>
            <a:ext cx="885962" cy="644987"/>
          </a:xfrm>
          <a:custGeom>
            <a:avLst/>
            <a:gdLst/>
            <a:ahLst/>
            <a:cxnLst/>
            <a:rect l="l" t="t" r="r" b="b"/>
            <a:pathLst>
              <a:path w="885962" h="644987">
                <a:moveTo>
                  <a:pt x="0" y="0"/>
                </a:moveTo>
                <a:lnTo>
                  <a:pt x="885962" y="0"/>
                </a:lnTo>
                <a:lnTo>
                  <a:pt x="88596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2840976" y="4919394"/>
            <a:ext cx="1093780" cy="1300906"/>
          </a:xfrm>
          <a:custGeom>
            <a:avLst/>
            <a:gdLst/>
            <a:ahLst/>
            <a:cxnLst/>
            <a:rect l="l" t="t" r="r" b="b"/>
            <a:pathLst>
              <a:path w="1093780" h="1300906">
                <a:moveTo>
                  <a:pt x="0" y="0"/>
                </a:moveTo>
                <a:lnTo>
                  <a:pt x="1093780" y="0"/>
                </a:lnTo>
                <a:lnTo>
                  <a:pt x="1093780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2467308" y="6396378"/>
            <a:ext cx="1639509" cy="1606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b="1" spc="-51">
                <a:solidFill>
                  <a:srgbClr val="D9D9D9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Compare model performance</a:t>
            </a:r>
          </a:p>
          <a:p>
            <a:pPr algn="l">
              <a:lnSpc>
                <a:spcPts val="2610"/>
              </a:lnSpc>
            </a:pPr>
            <a:r>
              <a:rPr lang="en-US" sz="1740" b="1" spc="-51">
                <a:solidFill>
                  <a:srgbClr val="D9D9D9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using standard evaluation</a:t>
            </a:r>
          </a:p>
          <a:p>
            <a:pPr algn="l">
              <a:lnSpc>
                <a:spcPts val="2610"/>
              </a:lnSpc>
            </a:pPr>
            <a:r>
              <a:rPr lang="en-US" sz="1740" b="1" spc="-51">
                <a:solidFill>
                  <a:srgbClr val="D9D9D9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metrics</a:t>
            </a:r>
          </a:p>
        </p:txBody>
      </p:sp>
      <p:sp>
        <p:nvSpPr>
          <p:cNvPr id="30" name="Freeform 30"/>
          <p:cNvSpPr/>
          <p:nvPr/>
        </p:nvSpPr>
        <p:spPr>
          <a:xfrm>
            <a:off x="14580086" y="5356674"/>
            <a:ext cx="448450" cy="644987"/>
          </a:xfrm>
          <a:custGeom>
            <a:avLst/>
            <a:gdLst/>
            <a:ahLst/>
            <a:cxnLst/>
            <a:rect l="l" t="t" r="r" b="b"/>
            <a:pathLst>
              <a:path w="448450" h="644987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4798842" y="4493047"/>
            <a:ext cx="2843828" cy="4088563"/>
          </a:xfrm>
          <a:custGeom>
            <a:avLst/>
            <a:gdLst/>
            <a:ahLst/>
            <a:cxnLst/>
            <a:rect l="l" t="t" r="r" b="b"/>
            <a:pathLst>
              <a:path w="2843828" h="4088563">
                <a:moveTo>
                  <a:pt x="0" y="0"/>
                </a:moveTo>
                <a:lnTo>
                  <a:pt x="2843828" y="0"/>
                </a:lnTo>
                <a:lnTo>
                  <a:pt x="2843828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4798842" y="4285339"/>
            <a:ext cx="885962" cy="644987"/>
          </a:xfrm>
          <a:custGeom>
            <a:avLst/>
            <a:gdLst/>
            <a:ahLst/>
            <a:cxnLst/>
            <a:rect l="l" t="t" r="r" b="b"/>
            <a:pathLst>
              <a:path w="885962" h="644987">
                <a:moveTo>
                  <a:pt x="0" y="0"/>
                </a:moveTo>
                <a:lnTo>
                  <a:pt x="885962" y="0"/>
                </a:lnTo>
                <a:lnTo>
                  <a:pt x="88596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5455110" y="4919394"/>
            <a:ext cx="1531292" cy="1300906"/>
          </a:xfrm>
          <a:custGeom>
            <a:avLst/>
            <a:gdLst/>
            <a:ahLst/>
            <a:cxnLst/>
            <a:rect l="l" t="t" r="r" b="b"/>
            <a:pathLst>
              <a:path w="1531292" h="1300906">
                <a:moveTo>
                  <a:pt x="0" y="0"/>
                </a:moveTo>
                <a:lnTo>
                  <a:pt x="1531292" y="0"/>
                </a:lnTo>
                <a:lnTo>
                  <a:pt x="1531292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5222617" y="6396378"/>
            <a:ext cx="2035916" cy="1606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b="1" spc="-51">
                <a:solidFill>
                  <a:srgbClr val="D9D9D9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Develop a severity prediction tool to support data-driven road safety</a:t>
            </a:r>
          </a:p>
          <a:p>
            <a:pPr algn="l">
              <a:lnSpc>
                <a:spcPts val="2610"/>
              </a:lnSpc>
            </a:pPr>
            <a:r>
              <a:rPr lang="en-US" sz="1740" b="1" spc="-51">
                <a:solidFill>
                  <a:srgbClr val="D9D9D9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decisions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1747" y="4358952"/>
            <a:ext cx="142831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759" b="1" spc="-82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771623" y="4358952"/>
            <a:ext cx="215939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759" b="1" spc="-82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34939" y="4358952"/>
            <a:ext cx="222165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759" b="1" spc="-82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495499" y="4358952"/>
            <a:ext cx="233905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759" b="1" spc="-82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345101" y="4358952"/>
            <a:ext cx="213982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759" b="1" spc="-82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5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5206906" y="4358952"/>
            <a:ext cx="223232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759" b="1" spc="-82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747196" y="2350377"/>
            <a:ext cx="6540804" cy="7510275"/>
          </a:xfrm>
          <a:custGeom>
            <a:avLst/>
            <a:gdLst/>
            <a:ahLst/>
            <a:cxnLst/>
            <a:rect l="l" t="t" r="r" b="b"/>
            <a:pathLst>
              <a:path w="6540804" h="7510275">
                <a:moveTo>
                  <a:pt x="0" y="0"/>
                </a:moveTo>
                <a:lnTo>
                  <a:pt x="6540804" y="0"/>
                </a:lnTo>
                <a:lnTo>
                  <a:pt x="6540804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48305" y="633690"/>
            <a:ext cx="9463227" cy="940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4"/>
              </a:lnSpc>
            </a:pPr>
            <a:r>
              <a:rPr lang="en-US" sz="7124" b="1" spc="-354">
                <a:solidFill>
                  <a:srgbClr val="FFFFFF">
                    <a:alpha val="89804"/>
                  </a:srgbClr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Literature Review and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83390" y="1582523"/>
            <a:ext cx="5954744" cy="940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4"/>
              </a:lnSpc>
            </a:pPr>
            <a:r>
              <a:rPr lang="en-US" sz="7124" b="1" spc="-354">
                <a:solidFill>
                  <a:srgbClr val="E84322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Research Gap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6466" y="2741494"/>
            <a:ext cx="8326096" cy="39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3032" b="1" spc="-29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Summary of Key Approaches and Limitations</a:t>
            </a:r>
          </a:p>
        </p:txBody>
      </p:sp>
      <p:sp>
        <p:nvSpPr>
          <p:cNvPr id="7" name="Freeform 7"/>
          <p:cNvSpPr/>
          <p:nvPr/>
        </p:nvSpPr>
        <p:spPr>
          <a:xfrm>
            <a:off x="645330" y="3421712"/>
            <a:ext cx="11331560" cy="6231233"/>
          </a:xfrm>
          <a:custGeom>
            <a:avLst/>
            <a:gdLst/>
            <a:ahLst/>
            <a:cxnLst/>
            <a:rect l="l" t="t" r="r" b="b"/>
            <a:pathLst>
              <a:path w="11331560" h="6231233">
                <a:moveTo>
                  <a:pt x="0" y="0"/>
                </a:moveTo>
                <a:lnTo>
                  <a:pt x="11331560" y="0"/>
                </a:lnTo>
                <a:lnTo>
                  <a:pt x="11331560" y="6231233"/>
                </a:lnTo>
                <a:lnTo>
                  <a:pt x="0" y="62312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45330" y="4285339"/>
            <a:ext cx="3926670" cy="1508614"/>
          </a:xfrm>
          <a:custGeom>
            <a:avLst/>
            <a:gdLst/>
            <a:ahLst/>
            <a:cxnLst/>
            <a:rect l="l" t="t" r="r" b="b"/>
            <a:pathLst>
              <a:path w="3926670" h="1508614">
                <a:moveTo>
                  <a:pt x="0" y="0"/>
                </a:moveTo>
                <a:lnTo>
                  <a:pt x="3926670" y="0"/>
                </a:lnTo>
                <a:lnTo>
                  <a:pt x="392667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45248" y="4574518"/>
            <a:ext cx="2631411" cy="738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b="1" spc="-19">
                <a:solidFill>
                  <a:srgbClr val="FFFFFF">
                    <a:alpha val="89804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Traditional Statistical</a:t>
            </a:r>
          </a:p>
          <a:p>
            <a:pPr algn="l">
              <a:lnSpc>
                <a:spcPts val="3071"/>
              </a:lnSpc>
            </a:pPr>
            <a:r>
              <a:rPr lang="en-US" sz="2047" b="1" spc="-19">
                <a:solidFill>
                  <a:srgbClr val="FFFFFF">
                    <a:alpha val="89804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Methods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01425" y="4574518"/>
            <a:ext cx="2776256" cy="738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spc="-81">
                <a:solidFill>
                  <a:srgbClr val="FFFFFF">
                    <a:alpha val="8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Simple, well-understood</a:t>
            </a:r>
          </a:p>
          <a:p>
            <a:pPr algn="l">
              <a:lnSpc>
                <a:spcPts val="3071"/>
              </a:lnSpc>
            </a:pPr>
            <a:r>
              <a:rPr lang="en-US" sz="2047" spc="-81">
                <a:solidFill>
                  <a:srgbClr val="FFFFFF">
                    <a:alpha val="8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foundation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01240" y="4574518"/>
            <a:ext cx="2483796" cy="738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spc="-81">
                <a:solidFill>
                  <a:srgbClr val="FFFFFF">
                    <a:alpha val="8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Limited in capturing</a:t>
            </a:r>
          </a:p>
          <a:p>
            <a:pPr algn="l">
              <a:lnSpc>
                <a:spcPts val="3071"/>
              </a:lnSpc>
            </a:pPr>
            <a:r>
              <a:rPr lang="en-US" sz="2047" spc="-81">
                <a:solidFill>
                  <a:srgbClr val="FFFFFF">
                    <a:alpha val="8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complex relationships</a:t>
            </a:r>
          </a:p>
        </p:txBody>
      </p:sp>
      <p:sp>
        <p:nvSpPr>
          <p:cNvPr id="12" name="Freeform 12"/>
          <p:cNvSpPr/>
          <p:nvPr/>
        </p:nvSpPr>
        <p:spPr>
          <a:xfrm>
            <a:off x="645330" y="5564382"/>
            <a:ext cx="3926670" cy="1508614"/>
          </a:xfrm>
          <a:custGeom>
            <a:avLst/>
            <a:gdLst/>
            <a:ahLst/>
            <a:cxnLst/>
            <a:rect l="l" t="t" r="r" b="b"/>
            <a:pathLst>
              <a:path w="3926670" h="1508614">
                <a:moveTo>
                  <a:pt x="0" y="0"/>
                </a:moveTo>
                <a:lnTo>
                  <a:pt x="3926670" y="0"/>
                </a:lnTo>
                <a:lnTo>
                  <a:pt x="392667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44694" y="5839629"/>
            <a:ext cx="2686854" cy="738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b="1" spc="-19">
                <a:solidFill>
                  <a:srgbClr val="FFFFFF">
                    <a:alpha val="89804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Logistic Regression &amp;</a:t>
            </a:r>
          </a:p>
          <a:p>
            <a:pPr algn="l">
              <a:lnSpc>
                <a:spcPts val="3071"/>
              </a:lnSpc>
            </a:pPr>
            <a:r>
              <a:rPr lang="en-US" sz="2047" b="1" spc="-19">
                <a:solidFill>
                  <a:srgbClr val="FFFFFF">
                    <a:alpha val="89804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Decision Trees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08275" y="5839629"/>
            <a:ext cx="2091292" cy="738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spc="-81">
                <a:solidFill>
                  <a:srgbClr val="FFFFFF">
                    <a:alpha val="8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Interpretable,</a:t>
            </a:r>
          </a:p>
          <a:p>
            <a:pPr algn="l">
              <a:lnSpc>
                <a:spcPts val="3071"/>
              </a:lnSpc>
            </a:pPr>
            <a:r>
              <a:rPr lang="en-US" sz="2047" spc="-81">
                <a:solidFill>
                  <a:srgbClr val="FFFFFF">
                    <a:alpha val="8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easy to implement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01046" y="5839629"/>
            <a:ext cx="2503243" cy="738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spc="-81">
                <a:solidFill>
                  <a:srgbClr val="FFFFFF">
                    <a:alpha val="8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May underperform on</a:t>
            </a:r>
          </a:p>
          <a:p>
            <a:pPr algn="l">
              <a:lnSpc>
                <a:spcPts val="3071"/>
              </a:lnSpc>
            </a:pPr>
            <a:r>
              <a:rPr lang="en-US" sz="2047" spc="-81">
                <a:solidFill>
                  <a:srgbClr val="FFFFFF">
                    <a:alpha val="8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complex patterns</a:t>
            </a:r>
          </a:p>
        </p:txBody>
      </p:sp>
      <p:sp>
        <p:nvSpPr>
          <p:cNvPr id="16" name="Freeform 16"/>
          <p:cNvSpPr/>
          <p:nvPr/>
        </p:nvSpPr>
        <p:spPr>
          <a:xfrm>
            <a:off x="645330" y="6854356"/>
            <a:ext cx="3926670" cy="1508614"/>
          </a:xfrm>
          <a:custGeom>
            <a:avLst/>
            <a:gdLst/>
            <a:ahLst/>
            <a:cxnLst/>
            <a:rect l="l" t="t" r="r" b="b"/>
            <a:pathLst>
              <a:path w="3926670" h="1508614">
                <a:moveTo>
                  <a:pt x="0" y="0"/>
                </a:moveTo>
                <a:lnTo>
                  <a:pt x="3926670" y="0"/>
                </a:lnTo>
                <a:lnTo>
                  <a:pt x="392667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47589" y="7119800"/>
            <a:ext cx="2397391" cy="738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b="1" spc="-19">
                <a:solidFill>
                  <a:srgbClr val="FFFFFF">
                    <a:alpha val="89804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Ensemble Methods</a:t>
            </a:r>
          </a:p>
          <a:p>
            <a:pPr algn="l">
              <a:lnSpc>
                <a:spcPts val="3071"/>
              </a:lnSpc>
            </a:pPr>
            <a:r>
              <a:rPr lang="en-US" sz="2047" b="1" spc="-19">
                <a:solidFill>
                  <a:srgbClr val="FFFFFF">
                    <a:alpha val="89804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(Random Forest)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07056" y="7119800"/>
            <a:ext cx="2213133" cy="738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spc="-81">
                <a:solidFill>
                  <a:srgbClr val="FFFFFF">
                    <a:alpha val="8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Improved accuracy</a:t>
            </a:r>
          </a:p>
          <a:p>
            <a:pPr algn="l">
              <a:lnSpc>
                <a:spcPts val="3071"/>
              </a:lnSpc>
            </a:pPr>
            <a:r>
              <a:rPr lang="en-US" sz="2047" spc="-81">
                <a:solidFill>
                  <a:srgbClr val="FFFFFF">
                    <a:alpha val="8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and robustness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96523" y="7119800"/>
            <a:ext cx="2955484" cy="738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spc="-81">
                <a:solidFill>
                  <a:srgbClr val="FFFFFF">
                    <a:alpha val="8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Less interpretable,</a:t>
            </a:r>
          </a:p>
          <a:p>
            <a:pPr algn="l">
              <a:lnSpc>
                <a:spcPts val="3071"/>
              </a:lnSpc>
            </a:pPr>
            <a:r>
              <a:rPr lang="en-US" sz="2047" spc="-81">
                <a:solidFill>
                  <a:srgbClr val="FFFFFF">
                    <a:alpha val="8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higher computational cost</a:t>
            </a:r>
          </a:p>
        </p:txBody>
      </p:sp>
      <p:sp>
        <p:nvSpPr>
          <p:cNvPr id="20" name="Freeform 20"/>
          <p:cNvSpPr/>
          <p:nvPr/>
        </p:nvSpPr>
        <p:spPr>
          <a:xfrm>
            <a:off x="645330" y="8133399"/>
            <a:ext cx="3926670" cy="1519546"/>
          </a:xfrm>
          <a:custGeom>
            <a:avLst/>
            <a:gdLst/>
            <a:ahLst/>
            <a:cxnLst/>
            <a:rect l="l" t="t" r="r" b="b"/>
            <a:pathLst>
              <a:path w="3926670" h="1519546">
                <a:moveTo>
                  <a:pt x="0" y="0"/>
                </a:moveTo>
                <a:lnTo>
                  <a:pt x="3926670" y="0"/>
                </a:lnTo>
                <a:lnTo>
                  <a:pt x="3926670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053804" y="8610823"/>
            <a:ext cx="1775803" cy="363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b="1" spc="-19">
                <a:solidFill>
                  <a:srgbClr val="FFFFFF">
                    <a:alpha val="89804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SVM and KNN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08689" y="8415033"/>
            <a:ext cx="2049801" cy="738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spc="-81">
                <a:solidFill>
                  <a:srgbClr val="FFFFFF">
                    <a:alpha val="8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Effective for high-dimensional data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600504" y="8415032"/>
            <a:ext cx="2557366" cy="738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spc="-81">
                <a:solidFill>
                  <a:srgbClr val="FFFFFF">
                    <a:alpha val="8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Sensitive to parameter</a:t>
            </a:r>
          </a:p>
          <a:p>
            <a:pPr algn="l">
              <a:lnSpc>
                <a:spcPts val="3071"/>
              </a:lnSpc>
            </a:pPr>
            <a:r>
              <a:rPr lang="en-US" sz="2047" spc="-81">
                <a:solidFill>
                  <a:srgbClr val="FFFFFF">
                    <a:alpha val="8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selection and scaling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910756" y="3746172"/>
            <a:ext cx="1843117" cy="363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b="1" spc="-19">
                <a:solidFill>
                  <a:srgbClr val="FFFFFF">
                    <a:alpha val="89804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ADVANTAGES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09066" y="3746172"/>
            <a:ext cx="1701186" cy="363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b="1" spc="-19">
                <a:solidFill>
                  <a:srgbClr val="FFFFFF">
                    <a:alpha val="89804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LIMITATIONS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56787" y="3746172"/>
            <a:ext cx="1477598" cy="363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b="1" spc="-19">
                <a:solidFill>
                  <a:srgbClr val="E84322">
                    <a:alpha val="89804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APPROACH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27670" y="770835"/>
            <a:ext cx="10811099" cy="963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3"/>
              </a:lnSpc>
            </a:pPr>
            <a:r>
              <a:rPr lang="en-US" sz="6385" b="1" spc="-190">
                <a:solidFill>
                  <a:srgbClr val="F6F6F6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Proposed System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2796" y="1924382"/>
            <a:ext cx="7977396" cy="499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5"/>
              </a:lnSpc>
            </a:pPr>
            <a:r>
              <a:rPr lang="en-US" sz="3328" spc="-99">
                <a:solidFill>
                  <a:srgbClr val="C84627"/>
                </a:solidFill>
                <a:latin typeface="Inter"/>
                <a:ea typeface="Inter"/>
                <a:cs typeface="Inter"/>
                <a:sym typeface="Inter"/>
              </a:rPr>
              <a:t>Road Accident Severity Prediction Pipeline</a:t>
            </a:r>
          </a:p>
        </p:txBody>
      </p:sp>
      <p:sp>
        <p:nvSpPr>
          <p:cNvPr id="5" name="Freeform 5"/>
          <p:cNvSpPr/>
          <p:nvPr/>
        </p:nvSpPr>
        <p:spPr>
          <a:xfrm>
            <a:off x="426574" y="2995365"/>
            <a:ext cx="2406316" cy="1082267"/>
          </a:xfrm>
          <a:custGeom>
            <a:avLst/>
            <a:gdLst/>
            <a:ahLst/>
            <a:cxnLst/>
            <a:rect l="l" t="t" r="r" b="b"/>
            <a:pathLst>
              <a:path w="2406316" h="1082267">
                <a:moveTo>
                  <a:pt x="0" y="0"/>
                </a:moveTo>
                <a:lnTo>
                  <a:pt x="2406316" y="0"/>
                </a:lnTo>
                <a:lnTo>
                  <a:pt x="240631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431728" y="3362688"/>
            <a:ext cx="411774" cy="45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4"/>
              </a:lnSpc>
            </a:pPr>
            <a:r>
              <a:rPr lang="en-US" sz="2896" b="1" spc="-86">
                <a:solidFill>
                  <a:srgbClr val="FFFFFF">
                    <a:alpha val="84706"/>
                  </a:srgbClr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01</a:t>
            </a:r>
          </a:p>
        </p:txBody>
      </p:sp>
      <p:sp>
        <p:nvSpPr>
          <p:cNvPr id="7" name="Freeform 7"/>
          <p:cNvSpPr/>
          <p:nvPr/>
        </p:nvSpPr>
        <p:spPr>
          <a:xfrm>
            <a:off x="426574" y="3848060"/>
            <a:ext cx="2406316" cy="3443576"/>
          </a:xfrm>
          <a:custGeom>
            <a:avLst/>
            <a:gdLst/>
            <a:ahLst/>
            <a:cxnLst/>
            <a:rect l="l" t="t" r="r" b="b"/>
            <a:pathLst>
              <a:path w="2406316" h="3443576">
                <a:moveTo>
                  <a:pt x="0" y="0"/>
                </a:moveTo>
                <a:lnTo>
                  <a:pt x="2406316" y="0"/>
                </a:lnTo>
                <a:lnTo>
                  <a:pt x="2406316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40212" y="4296435"/>
            <a:ext cx="1154623" cy="748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 spc="-70">
                <a:solidFill>
                  <a:srgbClr val="FFFFFF">
                    <a:alpha val="84706"/>
                  </a:srgbClr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Accident Dataset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9951" y="5381543"/>
            <a:ext cx="775144" cy="698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1916" spc="-57">
                <a:solidFill>
                  <a:srgbClr val="FFFFFF">
                    <a:alpha val="84706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source</a:t>
            </a:r>
          </a:p>
          <a:p>
            <a:pPr algn="ctr">
              <a:lnSpc>
                <a:spcPts val="2874"/>
              </a:lnSpc>
            </a:pPr>
            <a:r>
              <a:rPr lang="en-US" sz="1916" spc="-57">
                <a:solidFill>
                  <a:srgbClr val="FFFFFF">
                    <a:alpha val="84706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verified</a:t>
            </a:r>
          </a:p>
        </p:txBody>
      </p:sp>
      <p:sp>
        <p:nvSpPr>
          <p:cNvPr id="10" name="Freeform 10"/>
          <p:cNvSpPr/>
          <p:nvPr/>
        </p:nvSpPr>
        <p:spPr>
          <a:xfrm>
            <a:off x="426574" y="7062064"/>
            <a:ext cx="2406316" cy="1300906"/>
          </a:xfrm>
          <a:custGeom>
            <a:avLst/>
            <a:gdLst/>
            <a:ahLst/>
            <a:cxnLst/>
            <a:rect l="l" t="t" r="r" b="b"/>
            <a:pathLst>
              <a:path w="2406316" h="1300906">
                <a:moveTo>
                  <a:pt x="0" y="0"/>
                </a:moveTo>
                <a:lnTo>
                  <a:pt x="2406316" y="0"/>
                </a:lnTo>
                <a:lnTo>
                  <a:pt x="240631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37750" y="7498844"/>
            <a:ext cx="1559547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 spc="-57">
                <a:solidFill>
                  <a:srgbClr val="0B192B">
                    <a:alpha val="84706"/>
                  </a:srgbClr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data collection</a:t>
            </a:r>
          </a:p>
        </p:txBody>
      </p:sp>
      <p:sp>
        <p:nvSpPr>
          <p:cNvPr id="12" name="Freeform 12"/>
          <p:cNvSpPr/>
          <p:nvPr/>
        </p:nvSpPr>
        <p:spPr>
          <a:xfrm>
            <a:off x="3040708" y="2995365"/>
            <a:ext cx="2187560" cy="1082267"/>
          </a:xfrm>
          <a:custGeom>
            <a:avLst/>
            <a:gdLst/>
            <a:ahLst/>
            <a:cxnLst/>
            <a:rect l="l" t="t" r="r" b="b"/>
            <a:pathLst>
              <a:path w="2187560" h="1082267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949900" y="3370527"/>
            <a:ext cx="411774" cy="440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1"/>
              </a:lnSpc>
            </a:pPr>
            <a:r>
              <a:rPr lang="en-US" sz="2724" b="1" spc="-81">
                <a:solidFill>
                  <a:srgbClr val="FFFFFF">
                    <a:alpha val="84706"/>
                  </a:srgbClr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02</a:t>
            </a:r>
          </a:p>
        </p:txBody>
      </p:sp>
      <p:sp>
        <p:nvSpPr>
          <p:cNvPr id="14" name="Freeform 14"/>
          <p:cNvSpPr/>
          <p:nvPr/>
        </p:nvSpPr>
        <p:spPr>
          <a:xfrm>
            <a:off x="3040708" y="3848060"/>
            <a:ext cx="2187560" cy="3443576"/>
          </a:xfrm>
          <a:custGeom>
            <a:avLst/>
            <a:gdLst/>
            <a:ahLst/>
            <a:cxnLst/>
            <a:rect l="l" t="t" r="r" b="b"/>
            <a:pathLst>
              <a:path w="2187560" h="3443576">
                <a:moveTo>
                  <a:pt x="0" y="0"/>
                </a:moveTo>
                <a:lnTo>
                  <a:pt x="2187560" y="0"/>
                </a:lnTo>
                <a:lnTo>
                  <a:pt x="2187560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199674" y="4296435"/>
            <a:ext cx="1894010" cy="748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 spc="-70">
                <a:solidFill>
                  <a:srgbClr val="FFFFFF">
                    <a:alpha val="84706"/>
                  </a:srgbClr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Data Preprocessing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32839" y="5353513"/>
            <a:ext cx="1627679" cy="126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6"/>
              </a:lnSpc>
            </a:pPr>
            <a:r>
              <a:rPr lang="en-US" sz="2179" spc="-64">
                <a:solidFill>
                  <a:srgbClr val="FFFFFF">
                    <a:alpha val="84706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missing value treatment</a:t>
            </a:r>
          </a:p>
          <a:p>
            <a:pPr algn="ctr">
              <a:lnSpc>
                <a:spcPts val="3486"/>
              </a:lnSpc>
            </a:pPr>
            <a:r>
              <a:rPr lang="en-US" sz="2179" spc="-64">
                <a:solidFill>
                  <a:srgbClr val="FFFFFF">
                    <a:alpha val="84706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encoding</a:t>
            </a:r>
          </a:p>
        </p:txBody>
      </p:sp>
      <p:sp>
        <p:nvSpPr>
          <p:cNvPr id="17" name="Freeform 17"/>
          <p:cNvSpPr/>
          <p:nvPr/>
        </p:nvSpPr>
        <p:spPr>
          <a:xfrm>
            <a:off x="3040708" y="7062064"/>
            <a:ext cx="2187560" cy="1300906"/>
          </a:xfrm>
          <a:custGeom>
            <a:avLst/>
            <a:gdLst/>
            <a:ahLst/>
            <a:cxnLst/>
            <a:rect l="l" t="t" r="r" b="b"/>
            <a:pathLst>
              <a:path w="2187560" h="1300906">
                <a:moveTo>
                  <a:pt x="0" y="0"/>
                </a:moveTo>
                <a:lnTo>
                  <a:pt x="2187560" y="0"/>
                </a:lnTo>
                <a:lnTo>
                  <a:pt x="218756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433589" y="7498844"/>
            <a:ext cx="1426181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 spc="-57">
                <a:solidFill>
                  <a:srgbClr val="0B192B">
                    <a:alpha val="84706"/>
                  </a:srgbClr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data cleaning</a:t>
            </a:r>
          </a:p>
        </p:txBody>
      </p:sp>
      <p:sp>
        <p:nvSpPr>
          <p:cNvPr id="19" name="Freeform 19"/>
          <p:cNvSpPr/>
          <p:nvPr/>
        </p:nvSpPr>
        <p:spPr>
          <a:xfrm>
            <a:off x="5436086" y="2995365"/>
            <a:ext cx="2406316" cy="1082267"/>
          </a:xfrm>
          <a:custGeom>
            <a:avLst/>
            <a:gdLst/>
            <a:ahLst/>
            <a:cxnLst/>
            <a:rect l="l" t="t" r="r" b="b"/>
            <a:pathLst>
              <a:path w="2406316" h="1082267">
                <a:moveTo>
                  <a:pt x="0" y="0"/>
                </a:moveTo>
                <a:lnTo>
                  <a:pt x="2406316" y="0"/>
                </a:lnTo>
                <a:lnTo>
                  <a:pt x="240631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6468072" y="3379091"/>
            <a:ext cx="411774" cy="423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sz="2667" b="1" spc="-79">
                <a:solidFill>
                  <a:srgbClr val="FFFFFF">
                    <a:alpha val="84706"/>
                  </a:srgbClr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03</a:t>
            </a:r>
          </a:p>
        </p:txBody>
      </p:sp>
      <p:sp>
        <p:nvSpPr>
          <p:cNvPr id="21" name="Freeform 21"/>
          <p:cNvSpPr/>
          <p:nvPr/>
        </p:nvSpPr>
        <p:spPr>
          <a:xfrm>
            <a:off x="5436086" y="3848060"/>
            <a:ext cx="2406316" cy="3443576"/>
          </a:xfrm>
          <a:custGeom>
            <a:avLst/>
            <a:gdLst/>
            <a:ahLst/>
            <a:cxnLst/>
            <a:rect l="l" t="t" r="r" b="b"/>
            <a:pathLst>
              <a:path w="2406316" h="3443576">
                <a:moveTo>
                  <a:pt x="0" y="0"/>
                </a:moveTo>
                <a:lnTo>
                  <a:pt x="2406316" y="0"/>
                </a:lnTo>
                <a:lnTo>
                  <a:pt x="2406316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5904760" y="4296435"/>
            <a:ext cx="1551792" cy="748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 spc="-70">
                <a:solidFill>
                  <a:srgbClr val="FFFFFF">
                    <a:alpha val="84706"/>
                  </a:srgbClr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Feature Engineering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144862" y="5353512"/>
            <a:ext cx="1071589" cy="126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6"/>
              </a:lnSpc>
            </a:pPr>
            <a:r>
              <a:rPr lang="en-US" sz="2179" spc="-64">
                <a:solidFill>
                  <a:srgbClr val="FFFFFF">
                    <a:alpha val="84706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feature selection</a:t>
            </a:r>
          </a:p>
          <a:p>
            <a:pPr algn="ctr">
              <a:lnSpc>
                <a:spcPts val="3486"/>
              </a:lnSpc>
            </a:pPr>
            <a:r>
              <a:rPr lang="en-US" sz="2179" spc="-64">
                <a:solidFill>
                  <a:srgbClr val="FFFFFF">
                    <a:alpha val="84706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scaling</a:t>
            </a:r>
          </a:p>
        </p:txBody>
      </p:sp>
      <p:sp>
        <p:nvSpPr>
          <p:cNvPr id="24" name="Freeform 24"/>
          <p:cNvSpPr/>
          <p:nvPr/>
        </p:nvSpPr>
        <p:spPr>
          <a:xfrm>
            <a:off x="5436086" y="7062064"/>
            <a:ext cx="2406316" cy="1300906"/>
          </a:xfrm>
          <a:custGeom>
            <a:avLst/>
            <a:gdLst/>
            <a:ahLst/>
            <a:cxnLst/>
            <a:rect l="l" t="t" r="r" b="b"/>
            <a:pathLst>
              <a:path w="2406316" h="1300906">
                <a:moveTo>
                  <a:pt x="0" y="0"/>
                </a:moveTo>
                <a:lnTo>
                  <a:pt x="2406316" y="0"/>
                </a:lnTo>
                <a:lnTo>
                  <a:pt x="240631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5676879" y="7498844"/>
            <a:ext cx="2000053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 spc="-57">
                <a:solidFill>
                  <a:srgbClr val="0B192B">
                    <a:alpha val="84706"/>
                  </a:srgbClr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feature processing</a:t>
            </a:r>
          </a:p>
        </p:txBody>
      </p:sp>
      <p:sp>
        <p:nvSpPr>
          <p:cNvPr id="26" name="Freeform 26"/>
          <p:cNvSpPr/>
          <p:nvPr/>
        </p:nvSpPr>
        <p:spPr>
          <a:xfrm>
            <a:off x="8050220" y="2995365"/>
            <a:ext cx="2406316" cy="1082267"/>
          </a:xfrm>
          <a:custGeom>
            <a:avLst/>
            <a:gdLst/>
            <a:ahLst/>
            <a:cxnLst/>
            <a:rect l="l" t="t" r="r" b="b"/>
            <a:pathLst>
              <a:path w="2406316" h="1082267">
                <a:moveTo>
                  <a:pt x="0" y="0"/>
                </a:moveTo>
                <a:lnTo>
                  <a:pt x="2406316" y="0"/>
                </a:lnTo>
                <a:lnTo>
                  <a:pt x="240631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8986244" y="3378729"/>
            <a:ext cx="411774" cy="423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2"/>
              </a:lnSpc>
            </a:pPr>
            <a:r>
              <a:rPr lang="en-US" sz="2610" b="1" spc="-77">
                <a:solidFill>
                  <a:srgbClr val="FFFFFF">
                    <a:alpha val="84706"/>
                  </a:srgbClr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04</a:t>
            </a:r>
          </a:p>
        </p:txBody>
      </p:sp>
      <p:sp>
        <p:nvSpPr>
          <p:cNvPr id="28" name="Freeform 28"/>
          <p:cNvSpPr/>
          <p:nvPr/>
        </p:nvSpPr>
        <p:spPr>
          <a:xfrm>
            <a:off x="8050220" y="3848060"/>
            <a:ext cx="2406316" cy="3443576"/>
          </a:xfrm>
          <a:custGeom>
            <a:avLst/>
            <a:gdLst/>
            <a:ahLst/>
            <a:cxnLst/>
            <a:rect l="l" t="t" r="r" b="b"/>
            <a:pathLst>
              <a:path w="2406316" h="3443576">
                <a:moveTo>
                  <a:pt x="0" y="0"/>
                </a:moveTo>
                <a:lnTo>
                  <a:pt x="2406316" y="0"/>
                </a:lnTo>
                <a:lnTo>
                  <a:pt x="2406316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8420142" y="4296435"/>
            <a:ext cx="1501652" cy="748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 spc="-70">
                <a:solidFill>
                  <a:srgbClr val="FFFFFF">
                    <a:alpha val="84706"/>
                  </a:srgbClr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Train / Test Split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71590" y="5381543"/>
            <a:ext cx="1198756" cy="698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1916" spc="-57">
                <a:solidFill>
                  <a:srgbClr val="FFFFFF">
                    <a:alpha val="84706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dataset partitioning</a:t>
            </a:r>
          </a:p>
        </p:txBody>
      </p:sp>
      <p:sp>
        <p:nvSpPr>
          <p:cNvPr id="31" name="Freeform 31"/>
          <p:cNvSpPr/>
          <p:nvPr/>
        </p:nvSpPr>
        <p:spPr>
          <a:xfrm>
            <a:off x="8050220" y="7062064"/>
            <a:ext cx="2406316" cy="1300906"/>
          </a:xfrm>
          <a:custGeom>
            <a:avLst/>
            <a:gdLst/>
            <a:ahLst/>
            <a:cxnLst/>
            <a:rect l="l" t="t" r="r" b="b"/>
            <a:pathLst>
              <a:path w="2406316" h="1300906">
                <a:moveTo>
                  <a:pt x="0" y="0"/>
                </a:moveTo>
                <a:lnTo>
                  <a:pt x="2406316" y="0"/>
                </a:lnTo>
                <a:lnTo>
                  <a:pt x="240631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8522785" y="7332935"/>
            <a:ext cx="1296366" cy="636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81"/>
              </a:lnSpc>
            </a:pPr>
            <a:r>
              <a:rPr lang="en-US" sz="1986" b="1" spc="-59">
                <a:solidFill>
                  <a:srgbClr val="0B192B">
                    <a:alpha val="84706"/>
                  </a:srgbClr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train / test preparation</a:t>
            </a:r>
          </a:p>
        </p:txBody>
      </p:sp>
      <p:sp>
        <p:nvSpPr>
          <p:cNvPr id="33" name="Freeform 33"/>
          <p:cNvSpPr/>
          <p:nvPr/>
        </p:nvSpPr>
        <p:spPr>
          <a:xfrm>
            <a:off x="10445598" y="2995365"/>
            <a:ext cx="2187560" cy="1082267"/>
          </a:xfrm>
          <a:custGeom>
            <a:avLst/>
            <a:gdLst/>
            <a:ahLst/>
            <a:cxnLst/>
            <a:rect l="l" t="t" r="r" b="b"/>
            <a:pathLst>
              <a:path w="2187560" h="1082267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1397260" y="3379091"/>
            <a:ext cx="411774" cy="423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sz="2667" b="1" spc="-79">
                <a:solidFill>
                  <a:srgbClr val="FFFFFF">
                    <a:alpha val="84706"/>
                  </a:srgbClr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05</a:t>
            </a:r>
          </a:p>
        </p:txBody>
      </p:sp>
      <p:sp>
        <p:nvSpPr>
          <p:cNvPr id="35" name="Freeform 35"/>
          <p:cNvSpPr/>
          <p:nvPr/>
        </p:nvSpPr>
        <p:spPr>
          <a:xfrm>
            <a:off x="10445598" y="3848060"/>
            <a:ext cx="2187560" cy="3443576"/>
          </a:xfrm>
          <a:custGeom>
            <a:avLst/>
            <a:gdLst/>
            <a:ahLst/>
            <a:cxnLst/>
            <a:rect l="l" t="t" r="r" b="b"/>
            <a:pathLst>
              <a:path w="2187560" h="3443576">
                <a:moveTo>
                  <a:pt x="0" y="0"/>
                </a:moveTo>
                <a:lnTo>
                  <a:pt x="2187560" y="0"/>
                </a:lnTo>
                <a:lnTo>
                  <a:pt x="2187560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0981531" y="4296435"/>
            <a:ext cx="1306990" cy="748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 spc="-70">
                <a:solidFill>
                  <a:srgbClr val="FFFFFF">
                    <a:alpha val="84706"/>
                  </a:srgbClr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ML Model Training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998610" y="5381543"/>
            <a:ext cx="1272832" cy="1055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1916" spc="-57">
                <a:solidFill>
                  <a:srgbClr val="FFFFFF">
                    <a:alpha val="84706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six machine learning classifiers</a:t>
            </a:r>
          </a:p>
        </p:txBody>
      </p:sp>
      <p:sp>
        <p:nvSpPr>
          <p:cNvPr id="38" name="Freeform 38"/>
          <p:cNvSpPr/>
          <p:nvPr/>
        </p:nvSpPr>
        <p:spPr>
          <a:xfrm>
            <a:off x="10445598" y="7062064"/>
            <a:ext cx="2187560" cy="1300906"/>
          </a:xfrm>
          <a:custGeom>
            <a:avLst/>
            <a:gdLst/>
            <a:ahLst/>
            <a:cxnLst/>
            <a:rect l="l" t="t" r="r" b="b"/>
            <a:pathLst>
              <a:path w="2187560" h="1300906">
                <a:moveTo>
                  <a:pt x="0" y="0"/>
                </a:moveTo>
                <a:lnTo>
                  <a:pt x="2187560" y="0"/>
                </a:lnTo>
                <a:lnTo>
                  <a:pt x="218756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10824017" y="7323799"/>
            <a:ext cx="1622017" cy="64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2047" b="1" spc="-60">
                <a:solidFill>
                  <a:srgbClr val="0B192B">
                    <a:alpha val="84706"/>
                  </a:srgbClr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model training and testing</a:t>
            </a:r>
          </a:p>
        </p:txBody>
      </p:sp>
      <p:sp>
        <p:nvSpPr>
          <p:cNvPr id="40" name="Freeform 40"/>
          <p:cNvSpPr/>
          <p:nvPr/>
        </p:nvSpPr>
        <p:spPr>
          <a:xfrm>
            <a:off x="12840976" y="2995365"/>
            <a:ext cx="2187560" cy="1082267"/>
          </a:xfrm>
          <a:custGeom>
            <a:avLst/>
            <a:gdLst/>
            <a:ahLst/>
            <a:cxnLst/>
            <a:rect l="l" t="t" r="r" b="b"/>
            <a:pathLst>
              <a:path w="2187560" h="1082267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13727908" y="3379091"/>
            <a:ext cx="411774" cy="423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sz="2667" b="1" spc="-79">
                <a:solidFill>
                  <a:srgbClr val="FFFFFF">
                    <a:alpha val="84706"/>
                  </a:srgbClr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06</a:t>
            </a:r>
          </a:p>
        </p:txBody>
      </p:sp>
      <p:sp>
        <p:nvSpPr>
          <p:cNvPr id="42" name="Freeform 42"/>
          <p:cNvSpPr/>
          <p:nvPr/>
        </p:nvSpPr>
        <p:spPr>
          <a:xfrm>
            <a:off x="12840976" y="3848060"/>
            <a:ext cx="2187560" cy="3443576"/>
          </a:xfrm>
          <a:custGeom>
            <a:avLst/>
            <a:gdLst/>
            <a:ahLst/>
            <a:cxnLst/>
            <a:rect l="l" t="t" r="r" b="b"/>
            <a:pathLst>
              <a:path w="2187560" h="3443576">
                <a:moveTo>
                  <a:pt x="0" y="0"/>
                </a:moveTo>
                <a:lnTo>
                  <a:pt x="2187560" y="0"/>
                </a:lnTo>
                <a:lnTo>
                  <a:pt x="2187560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13297419" y="4296435"/>
            <a:ext cx="1335439" cy="748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 spc="-70">
                <a:solidFill>
                  <a:srgbClr val="FFFFFF">
                    <a:alpha val="84706"/>
                  </a:srgbClr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Severity Prediction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115861" y="5381543"/>
            <a:ext cx="1698555" cy="698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1916" spc="-57">
                <a:solidFill>
                  <a:srgbClr val="FFFFFF">
                    <a:alpha val="84706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predict accident severity level</a:t>
            </a:r>
          </a:p>
        </p:txBody>
      </p:sp>
      <p:sp>
        <p:nvSpPr>
          <p:cNvPr id="45" name="Freeform 45"/>
          <p:cNvSpPr/>
          <p:nvPr/>
        </p:nvSpPr>
        <p:spPr>
          <a:xfrm>
            <a:off x="12840976" y="7062064"/>
            <a:ext cx="2187560" cy="1300906"/>
          </a:xfrm>
          <a:custGeom>
            <a:avLst/>
            <a:gdLst/>
            <a:ahLst/>
            <a:cxnLst/>
            <a:rect l="l" t="t" r="r" b="b"/>
            <a:pathLst>
              <a:path w="2187560" h="1300906">
                <a:moveTo>
                  <a:pt x="0" y="0"/>
                </a:moveTo>
                <a:lnTo>
                  <a:pt x="2187560" y="0"/>
                </a:lnTo>
                <a:lnTo>
                  <a:pt x="218756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13399507" y="7323799"/>
            <a:ext cx="1131263" cy="64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2047" b="1" spc="-60">
                <a:solidFill>
                  <a:srgbClr val="0B192B">
                    <a:alpha val="84706"/>
                  </a:srgbClr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prediction engine</a:t>
            </a:r>
          </a:p>
        </p:txBody>
      </p:sp>
      <p:sp>
        <p:nvSpPr>
          <p:cNvPr id="47" name="Freeform 47"/>
          <p:cNvSpPr/>
          <p:nvPr/>
        </p:nvSpPr>
        <p:spPr>
          <a:xfrm>
            <a:off x="15236354" y="2995365"/>
            <a:ext cx="2406316" cy="1082267"/>
          </a:xfrm>
          <a:custGeom>
            <a:avLst/>
            <a:gdLst/>
            <a:ahLst/>
            <a:cxnLst/>
            <a:rect l="l" t="t" r="r" b="b"/>
            <a:pathLst>
              <a:path w="2406316" h="1082267">
                <a:moveTo>
                  <a:pt x="0" y="0"/>
                </a:moveTo>
                <a:lnTo>
                  <a:pt x="2406316" y="0"/>
                </a:lnTo>
                <a:lnTo>
                  <a:pt x="240631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48" name="TextBox 48"/>
          <p:cNvSpPr txBox="1"/>
          <p:nvPr/>
        </p:nvSpPr>
        <p:spPr>
          <a:xfrm>
            <a:off x="16219291" y="3362326"/>
            <a:ext cx="411774" cy="45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9"/>
              </a:lnSpc>
            </a:pPr>
            <a:r>
              <a:rPr lang="en-US" sz="2838" b="1" spc="-84">
                <a:solidFill>
                  <a:srgbClr val="FFFFFF">
                    <a:alpha val="84706"/>
                  </a:srgbClr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07</a:t>
            </a:r>
          </a:p>
        </p:txBody>
      </p:sp>
      <p:sp>
        <p:nvSpPr>
          <p:cNvPr id="49" name="Freeform 49"/>
          <p:cNvSpPr/>
          <p:nvPr/>
        </p:nvSpPr>
        <p:spPr>
          <a:xfrm>
            <a:off x="15236354" y="3848060"/>
            <a:ext cx="2406316" cy="3443576"/>
          </a:xfrm>
          <a:custGeom>
            <a:avLst/>
            <a:gdLst/>
            <a:ahLst/>
            <a:cxnLst/>
            <a:rect l="l" t="t" r="r" b="b"/>
            <a:pathLst>
              <a:path w="2406316" h="3443576">
                <a:moveTo>
                  <a:pt x="0" y="0"/>
                </a:moveTo>
                <a:lnTo>
                  <a:pt x="2406316" y="0"/>
                </a:lnTo>
                <a:lnTo>
                  <a:pt x="2406316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50" name="TextBox 50"/>
          <p:cNvSpPr txBox="1"/>
          <p:nvPr/>
        </p:nvSpPr>
        <p:spPr>
          <a:xfrm>
            <a:off x="15750265" y="4296185"/>
            <a:ext cx="1413583" cy="748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4"/>
              </a:lnSpc>
            </a:pPr>
            <a:r>
              <a:rPr lang="en-US" sz="2311" b="1" spc="-68">
                <a:solidFill>
                  <a:srgbClr val="FFFFFF">
                    <a:alpha val="84706"/>
                  </a:srgbClr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Evaluation Dashboard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5690956" y="5353513"/>
            <a:ext cx="1532201" cy="126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6"/>
              </a:lnSpc>
            </a:pPr>
            <a:r>
              <a:rPr lang="en-US" sz="2179" spc="-64">
                <a:solidFill>
                  <a:srgbClr val="FFFFFF">
                    <a:alpha val="84706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performance analysis and visualization</a:t>
            </a:r>
          </a:p>
        </p:txBody>
      </p:sp>
      <p:sp>
        <p:nvSpPr>
          <p:cNvPr id="52" name="Freeform 52"/>
          <p:cNvSpPr/>
          <p:nvPr/>
        </p:nvSpPr>
        <p:spPr>
          <a:xfrm>
            <a:off x="15236354" y="7062064"/>
            <a:ext cx="2406316" cy="1300906"/>
          </a:xfrm>
          <a:custGeom>
            <a:avLst/>
            <a:gdLst/>
            <a:ahLst/>
            <a:cxnLst/>
            <a:rect l="l" t="t" r="r" b="b"/>
            <a:pathLst>
              <a:path w="2406316" h="1300906">
                <a:moveTo>
                  <a:pt x="0" y="0"/>
                </a:moveTo>
                <a:lnTo>
                  <a:pt x="2406316" y="0"/>
                </a:lnTo>
                <a:lnTo>
                  <a:pt x="240631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53" name="TextBox 53"/>
          <p:cNvSpPr txBox="1"/>
          <p:nvPr/>
        </p:nvSpPr>
        <p:spPr>
          <a:xfrm>
            <a:off x="15751936" y="7323799"/>
            <a:ext cx="1410242" cy="64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2047" b="1" spc="-60">
                <a:solidFill>
                  <a:srgbClr val="0B192B">
                    <a:alpha val="84706"/>
                  </a:srgbClr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results visualization</a:t>
            </a:r>
          </a:p>
        </p:txBody>
      </p:sp>
      <p:sp>
        <p:nvSpPr>
          <p:cNvPr id="54" name="Freeform 54"/>
          <p:cNvSpPr/>
          <p:nvPr/>
        </p:nvSpPr>
        <p:spPr>
          <a:xfrm>
            <a:off x="2603196" y="4919394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5217330" y="4919394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56" name="Freeform 56"/>
          <p:cNvSpPr/>
          <p:nvPr/>
        </p:nvSpPr>
        <p:spPr>
          <a:xfrm>
            <a:off x="7612708" y="4919394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57" name="Freeform 57"/>
          <p:cNvSpPr/>
          <p:nvPr/>
        </p:nvSpPr>
        <p:spPr>
          <a:xfrm>
            <a:off x="10226842" y="4919394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>
            <a:off x="12622220" y="4919394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59" name="Freeform 59"/>
          <p:cNvSpPr/>
          <p:nvPr/>
        </p:nvSpPr>
        <p:spPr>
          <a:xfrm>
            <a:off x="14798842" y="4919394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0" y="0"/>
            <a:ext cx="9144000" cy="3651284"/>
          </a:xfrm>
          <a:custGeom>
            <a:avLst/>
            <a:gdLst/>
            <a:ahLst/>
            <a:cxnLst/>
            <a:rect l="l" t="t" r="r" b="b"/>
            <a:pathLst>
              <a:path w="9144000" h="3651284">
                <a:moveTo>
                  <a:pt x="0" y="0"/>
                </a:moveTo>
                <a:lnTo>
                  <a:pt x="9144000" y="0"/>
                </a:lnTo>
                <a:lnTo>
                  <a:pt x="9144000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39741" y="524116"/>
            <a:ext cx="4246194" cy="78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69"/>
              </a:lnSpc>
            </a:pPr>
            <a:r>
              <a:rPr lang="en-US" sz="5969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Dataset and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23201" y="1322341"/>
            <a:ext cx="5900171" cy="78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69"/>
              </a:lnSpc>
            </a:pPr>
            <a:r>
              <a:rPr lang="en-US" sz="5969" b="1">
                <a:solidFill>
                  <a:srgbClr val="E84C22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Feature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17785" y="2289315"/>
            <a:ext cx="6441769" cy="654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5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Comprehensive analysis of road accident data to understand patterns, quality, and predictive signals.</a:t>
            </a:r>
          </a:p>
        </p:txBody>
      </p:sp>
      <p:sp>
        <p:nvSpPr>
          <p:cNvPr id="7" name="Freeform 7"/>
          <p:cNvSpPr/>
          <p:nvPr/>
        </p:nvSpPr>
        <p:spPr>
          <a:xfrm>
            <a:off x="426574" y="3421712"/>
            <a:ext cx="4145426" cy="5586245"/>
          </a:xfrm>
          <a:custGeom>
            <a:avLst/>
            <a:gdLst/>
            <a:ahLst/>
            <a:cxnLst/>
            <a:rect l="l" t="t" r="r" b="b"/>
            <a:pathLst>
              <a:path w="4145426" h="5586245">
                <a:moveTo>
                  <a:pt x="0" y="0"/>
                </a:moveTo>
                <a:lnTo>
                  <a:pt x="4145426" y="0"/>
                </a:lnTo>
                <a:lnTo>
                  <a:pt x="4145426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64148" y="3709789"/>
            <a:ext cx="2504988" cy="341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1916" b="1" spc="-57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DATASET OVERVIEW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12377" y="4746551"/>
            <a:ext cx="1607993" cy="402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970" b="1">
                <a:solidFill>
                  <a:srgbClr val="E84C22"/>
                </a:solidFill>
                <a:latin typeface="Inter Bold"/>
                <a:ea typeface="Inter Bold"/>
                <a:cs typeface="Inter Bold"/>
                <a:sym typeface="Inter Bold"/>
              </a:rPr>
              <a:t>294,978</a:t>
            </a:r>
          </a:p>
        </p:txBody>
      </p:sp>
      <p:sp>
        <p:nvSpPr>
          <p:cNvPr id="10" name="Freeform 10"/>
          <p:cNvSpPr/>
          <p:nvPr/>
        </p:nvSpPr>
        <p:spPr>
          <a:xfrm>
            <a:off x="645330" y="6635716"/>
            <a:ext cx="3718852" cy="229572"/>
          </a:xfrm>
          <a:custGeom>
            <a:avLst/>
            <a:gdLst/>
            <a:ahLst/>
            <a:cxnLst/>
            <a:rect l="l" t="t" r="r" b="b"/>
            <a:pathLst>
              <a:path w="3718852" h="229572">
                <a:moveTo>
                  <a:pt x="0" y="0"/>
                </a:moveTo>
                <a:lnTo>
                  <a:pt x="3718852" y="0"/>
                </a:lnTo>
                <a:lnTo>
                  <a:pt x="371885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97621" y="6927385"/>
            <a:ext cx="2568411" cy="27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546" b="1" spc="-46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INPUT FEATURES INCLUDE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8336" y="7456442"/>
            <a:ext cx="3496891" cy="838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1"/>
              </a:lnSpc>
            </a:pPr>
            <a:r>
              <a:rPr lang="en-US" sz="1335" spc="-53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Weather conditions, road type and surface, lighting, speed limit, time of day, vehicle type, junction details, location, environmental conditions and more</a:t>
            </a:r>
          </a:p>
        </p:txBody>
      </p:sp>
      <p:sp>
        <p:nvSpPr>
          <p:cNvPr id="13" name="Freeform 13"/>
          <p:cNvSpPr/>
          <p:nvPr/>
        </p:nvSpPr>
        <p:spPr>
          <a:xfrm>
            <a:off x="4572000" y="3421712"/>
            <a:ext cx="8061158" cy="5586245"/>
          </a:xfrm>
          <a:custGeom>
            <a:avLst/>
            <a:gdLst/>
            <a:ahLst/>
            <a:cxnLst/>
            <a:rect l="l" t="t" r="r" b="b"/>
            <a:pathLst>
              <a:path w="8061158" h="5586245">
                <a:moveTo>
                  <a:pt x="0" y="0"/>
                </a:moveTo>
                <a:lnTo>
                  <a:pt x="8061158" y="0"/>
                </a:lnTo>
                <a:lnTo>
                  <a:pt x="8061158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648811" y="3709789"/>
            <a:ext cx="3782550" cy="341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1916" b="1" spc="-57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DATA QUALITY &amp; DISTRIBUTION</a:t>
            </a:r>
          </a:p>
        </p:txBody>
      </p:sp>
      <p:sp>
        <p:nvSpPr>
          <p:cNvPr id="15" name="Freeform 15"/>
          <p:cNvSpPr/>
          <p:nvPr/>
        </p:nvSpPr>
        <p:spPr>
          <a:xfrm>
            <a:off x="4998574" y="4711687"/>
            <a:ext cx="3062584" cy="3224936"/>
          </a:xfrm>
          <a:custGeom>
            <a:avLst/>
            <a:gdLst/>
            <a:ahLst/>
            <a:cxnLst/>
            <a:rect l="l" t="t" r="r" b="b"/>
            <a:pathLst>
              <a:path w="3062584" h="3224936">
                <a:moveTo>
                  <a:pt x="0" y="0"/>
                </a:moveTo>
                <a:lnTo>
                  <a:pt x="3062584" y="0"/>
                </a:lnTo>
                <a:lnTo>
                  <a:pt x="306258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050220" y="5138034"/>
            <a:ext cx="448450" cy="2372241"/>
          </a:xfrm>
          <a:custGeom>
            <a:avLst/>
            <a:gdLst/>
            <a:ahLst/>
            <a:cxnLst/>
            <a:rect l="l" t="t" r="r" b="b"/>
            <a:pathLst>
              <a:path w="448450" h="2372241">
                <a:moveTo>
                  <a:pt x="0" y="0"/>
                </a:moveTo>
                <a:lnTo>
                  <a:pt x="448450" y="0"/>
                </a:lnTo>
                <a:lnTo>
                  <a:pt x="44845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925244" y="4285339"/>
            <a:ext cx="218756" cy="3651284"/>
          </a:xfrm>
          <a:custGeom>
            <a:avLst/>
            <a:gdLst/>
            <a:ahLst/>
            <a:cxnLst/>
            <a:rect l="l" t="t" r="r" b="b"/>
            <a:pathLst>
              <a:path w="218756" h="3651284">
                <a:moveTo>
                  <a:pt x="0" y="0"/>
                </a:moveTo>
                <a:lnTo>
                  <a:pt x="218756" y="0"/>
                </a:lnTo>
                <a:lnTo>
                  <a:pt x="218756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351818" y="5138034"/>
            <a:ext cx="885962" cy="2579949"/>
          </a:xfrm>
          <a:custGeom>
            <a:avLst/>
            <a:gdLst/>
            <a:ahLst/>
            <a:cxnLst/>
            <a:rect l="l" t="t" r="r" b="b"/>
            <a:pathLst>
              <a:path w="885962" h="2579949">
                <a:moveTo>
                  <a:pt x="0" y="0"/>
                </a:moveTo>
                <a:lnTo>
                  <a:pt x="885962" y="0"/>
                </a:lnTo>
                <a:lnTo>
                  <a:pt x="88596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0445598" y="6428009"/>
            <a:ext cx="885962" cy="1289974"/>
          </a:xfrm>
          <a:custGeom>
            <a:avLst/>
            <a:gdLst/>
            <a:ahLst/>
            <a:cxnLst/>
            <a:rect l="l" t="t" r="r" b="b"/>
            <a:pathLst>
              <a:path w="885962" h="1289974">
                <a:moveTo>
                  <a:pt x="0" y="0"/>
                </a:moveTo>
                <a:lnTo>
                  <a:pt x="885962" y="0"/>
                </a:lnTo>
                <a:lnTo>
                  <a:pt x="88596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1585732" y="6822628"/>
            <a:ext cx="596864" cy="315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863" b="1" spc="-55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4.9%</a:t>
            </a:r>
          </a:p>
        </p:txBody>
      </p:sp>
      <p:sp>
        <p:nvSpPr>
          <p:cNvPr id="21" name="Freeform 21"/>
          <p:cNvSpPr/>
          <p:nvPr/>
        </p:nvSpPr>
        <p:spPr>
          <a:xfrm>
            <a:off x="11320622" y="7062064"/>
            <a:ext cx="1093780" cy="655919"/>
          </a:xfrm>
          <a:custGeom>
            <a:avLst/>
            <a:gdLst/>
            <a:ahLst/>
            <a:cxnLst/>
            <a:rect l="l" t="t" r="r" b="b"/>
            <a:pathLst>
              <a:path w="1093780" h="655919">
                <a:moveTo>
                  <a:pt x="0" y="0"/>
                </a:moveTo>
                <a:lnTo>
                  <a:pt x="1093780" y="0"/>
                </a:lnTo>
                <a:lnTo>
                  <a:pt x="109378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4998574" y="7925691"/>
            <a:ext cx="7415828" cy="218640"/>
          </a:xfrm>
          <a:custGeom>
            <a:avLst/>
            <a:gdLst/>
            <a:ahLst/>
            <a:cxnLst/>
            <a:rect l="l" t="t" r="r" b="b"/>
            <a:pathLst>
              <a:path w="7415828" h="218640">
                <a:moveTo>
                  <a:pt x="0" y="0"/>
                </a:moveTo>
                <a:lnTo>
                  <a:pt x="7415828" y="0"/>
                </a:lnTo>
                <a:lnTo>
                  <a:pt x="741582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485866" y="8317644"/>
            <a:ext cx="6050038" cy="274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696" b="1" spc="-67">
                <a:solidFill>
                  <a:srgbClr val="E84C22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Imbalanced </a:t>
            </a:r>
            <a:r>
              <a:rPr lang="en-US" sz="1696" spc="-67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class distribution with majority of slight injury cases</a:t>
            </a:r>
          </a:p>
        </p:txBody>
      </p:sp>
      <p:sp>
        <p:nvSpPr>
          <p:cNvPr id="24" name="Freeform 24"/>
          <p:cNvSpPr/>
          <p:nvPr/>
        </p:nvSpPr>
        <p:spPr>
          <a:xfrm>
            <a:off x="12622220" y="3421712"/>
            <a:ext cx="5239206" cy="5586245"/>
          </a:xfrm>
          <a:custGeom>
            <a:avLst/>
            <a:gdLst/>
            <a:ahLst/>
            <a:cxnLst/>
            <a:rect l="l" t="t" r="r" b="b"/>
            <a:pathLst>
              <a:path w="5239206" h="5586245">
                <a:moveTo>
                  <a:pt x="0" y="0"/>
                </a:moveTo>
                <a:lnTo>
                  <a:pt x="5239206" y="0"/>
                </a:lnTo>
                <a:lnTo>
                  <a:pt x="5239206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3807941" y="3709789"/>
            <a:ext cx="2792917" cy="341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1916" b="1" spc="-57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FEATURE IMPORTANCE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108587" y="4275154"/>
            <a:ext cx="1805364" cy="2963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1476" b="1" spc="-59">
                <a:solidFill>
                  <a:srgbClr val="FFFFFF">
                    <a:alpha val="74902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Speed Limit</a:t>
            </a:r>
          </a:p>
          <a:p>
            <a:pPr algn="l">
              <a:lnSpc>
                <a:spcPts val="2953"/>
              </a:lnSpc>
            </a:pPr>
            <a:r>
              <a:rPr lang="en-US" sz="1476" b="1" spc="-59">
                <a:solidFill>
                  <a:srgbClr val="FFFFFF">
                    <a:alpha val="74902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Road Type</a:t>
            </a:r>
          </a:p>
          <a:p>
            <a:pPr algn="l">
              <a:lnSpc>
                <a:spcPts val="2953"/>
              </a:lnSpc>
            </a:pPr>
            <a:r>
              <a:rPr lang="en-US" sz="1476" b="1" spc="-59">
                <a:solidFill>
                  <a:srgbClr val="FFFFFF">
                    <a:alpha val="74902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Junction Control</a:t>
            </a:r>
          </a:p>
          <a:p>
            <a:pPr algn="l">
              <a:lnSpc>
                <a:spcPts val="2953"/>
              </a:lnSpc>
            </a:pPr>
            <a:r>
              <a:rPr lang="en-US" sz="1476" b="1" spc="-59">
                <a:solidFill>
                  <a:srgbClr val="FFFFFF">
                    <a:alpha val="74902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Weather Conditions</a:t>
            </a:r>
          </a:p>
          <a:p>
            <a:pPr algn="l">
              <a:lnSpc>
                <a:spcPts val="2953"/>
              </a:lnSpc>
            </a:pPr>
            <a:r>
              <a:rPr lang="en-US" sz="1476" b="1" spc="-59">
                <a:solidFill>
                  <a:srgbClr val="FFFFFF">
                    <a:alpha val="74902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Lighting Conditions</a:t>
            </a:r>
          </a:p>
          <a:p>
            <a:pPr algn="l">
              <a:lnSpc>
                <a:spcPts val="2953"/>
              </a:lnSpc>
            </a:pPr>
            <a:r>
              <a:rPr lang="en-US" sz="1476" b="1" spc="-59">
                <a:solidFill>
                  <a:srgbClr val="FFFFFF">
                    <a:alpha val="74902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Time of Day</a:t>
            </a:r>
          </a:p>
          <a:p>
            <a:pPr algn="l">
              <a:lnSpc>
                <a:spcPts val="2953"/>
              </a:lnSpc>
            </a:pPr>
            <a:r>
              <a:rPr lang="en-US" sz="1476" b="1" spc="-59">
                <a:solidFill>
                  <a:srgbClr val="FFFFFF">
                    <a:alpha val="74902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Road Surface</a:t>
            </a:r>
          </a:p>
          <a:p>
            <a:pPr algn="l">
              <a:lnSpc>
                <a:spcPts val="2953"/>
              </a:lnSpc>
            </a:pPr>
            <a:r>
              <a:rPr lang="en-US" sz="1476" b="1" spc="-59">
                <a:solidFill>
                  <a:srgbClr val="FFFFFF">
                    <a:alpha val="74902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Vehicle Type</a:t>
            </a:r>
          </a:p>
        </p:txBody>
      </p:sp>
      <p:sp>
        <p:nvSpPr>
          <p:cNvPr id="27" name="Freeform 27"/>
          <p:cNvSpPr/>
          <p:nvPr/>
        </p:nvSpPr>
        <p:spPr>
          <a:xfrm>
            <a:off x="14798842" y="4066699"/>
            <a:ext cx="2843828" cy="3651284"/>
          </a:xfrm>
          <a:custGeom>
            <a:avLst/>
            <a:gdLst/>
            <a:ahLst/>
            <a:cxnLst/>
            <a:rect l="l" t="t" r="r" b="b"/>
            <a:pathLst>
              <a:path w="2843828" h="3651284">
                <a:moveTo>
                  <a:pt x="0" y="0"/>
                </a:moveTo>
                <a:lnTo>
                  <a:pt x="2843828" y="0"/>
                </a:lnTo>
                <a:lnTo>
                  <a:pt x="2843828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059732" y="7707051"/>
            <a:ext cx="4582938" cy="229572"/>
          </a:xfrm>
          <a:custGeom>
            <a:avLst/>
            <a:gdLst/>
            <a:ahLst/>
            <a:cxnLst/>
            <a:rect l="l" t="t" r="r" b="b"/>
            <a:pathLst>
              <a:path w="4582938" h="229572">
                <a:moveTo>
                  <a:pt x="0" y="0"/>
                </a:moveTo>
                <a:lnTo>
                  <a:pt x="4582938" y="0"/>
                </a:lnTo>
                <a:lnTo>
                  <a:pt x="458293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3906013" y="8031488"/>
            <a:ext cx="2670712" cy="542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696" spc="-67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Model identifies </a:t>
            </a:r>
            <a:r>
              <a:rPr lang="en-US" sz="1696" b="1" spc="-67">
                <a:solidFill>
                  <a:srgbClr val="E84C22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key factors</a:t>
            </a:r>
            <a:r>
              <a:rPr lang="en-US" sz="1696" spc="-67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 driving accident severity</a:t>
            </a:r>
          </a:p>
        </p:txBody>
      </p:sp>
      <p:sp>
        <p:nvSpPr>
          <p:cNvPr id="30" name="Freeform 30"/>
          <p:cNvSpPr/>
          <p:nvPr/>
        </p:nvSpPr>
        <p:spPr>
          <a:xfrm>
            <a:off x="426574" y="8997026"/>
            <a:ext cx="17434852" cy="1289974"/>
          </a:xfrm>
          <a:custGeom>
            <a:avLst/>
            <a:gdLst/>
            <a:ahLst/>
            <a:cxnLst/>
            <a:rect l="l" t="t" r="r" b="b"/>
            <a:pathLst>
              <a:path w="17434852" h="1289974">
                <a:moveTo>
                  <a:pt x="0" y="0"/>
                </a:moveTo>
                <a:lnTo>
                  <a:pt x="17434852" y="0"/>
                </a:lnTo>
                <a:lnTo>
                  <a:pt x="1743485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810350" y="9413093"/>
            <a:ext cx="2011094" cy="315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b="1" spc="-55">
                <a:solidFill>
                  <a:srgbClr val="E84C22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KEY LIMITATIONS</a:t>
            </a:r>
          </a:p>
        </p:txBody>
      </p:sp>
      <p:sp>
        <p:nvSpPr>
          <p:cNvPr id="32" name="Freeform 32"/>
          <p:cNvSpPr/>
          <p:nvPr/>
        </p:nvSpPr>
        <p:spPr>
          <a:xfrm>
            <a:off x="3478220" y="9204733"/>
            <a:ext cx="229694" cy="874559"/>
          </a:xfrm>
          <a:custGeom>
            <a:avLst/>
            <a:gdLst/>
            <a:ahLst/>
            <a:cxnLst/>
            <a:rect l="l" t="t" r="r" b="b"/>
            <a:pathLst>
              <a:path w="229694" h="874559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4263903" y="9261815"/>
            <a:ext cx="2234702" cy="559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546" spc="-4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Class imbalance impacts model learning</a:t>
            </a:r>
          </a:p>
        </p:txBody>
      </p:sp>
      <p:sp>
        <p:nvSpPr>
          <p:cNvPr id="34" name="Freeform 34"/>
          <p:cNvSpPr/>
          <p:nvPr/>
        </p:nvSpPr>
        <p:spPr>
          <a:xfrm>
            <a:off x="7175196" y="9204733"/>
            <a:ext cx="229694" cy="874559"/>
          </a:xfrm>
          <a:custGeom>
            <a:avLst/>
            <a:gdLst/>
            <a:ahLst/>
            <a:cxnLst/>
            <a:rect l="l" t="t" r="r" b="b"/>
            <a:pathLst>
              <a:path w="229694" h="874559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7910441" y="9261815"/>
            <a:ext cx="1912187" cy="559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546" spc="-4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Missing values in key features</a:t>
            </a:r>
          </a:p>
        </p:txBody>
      </p:sp>
      <p:sp>
        <p:nvSpPr>
          <p:cNvPr id="36" name="Freeform 36"/>
          <p:cNvSpPr/>
          <p:nvPr/>
        </p:nvSpPr>
        <p:spPr>
          <a:xfrm>
            <a:off x="10445598" y="9204733"/>
            <a:ext cx="229694" cy="874559"/>
          </a:xfrm>
          <a:custGeom>
            <a:avLst/>
            <a:gdLst/>
            <a:ahLst/>
            <a:cxnLst/>
            <a:rect l="l" t="t" r="r" b="b"/>
            <a:pathLst>
              <a:path w="229694" h="874559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1284595" y="9261815"/>
            <a:ext cx="2038913" cy="559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546" spc="-4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Potential reporting and recording biases</a:t>
            </a:r>
          </a:p>
        </p:txBody>
      </p:sp>
      <p:sp>
        <p:nvSpPr>
          <p:cNvPr id="38" name="Freeform 38"/>
          <p:cNvSpPr/>
          <p:nvPr/>
        </p:nvSpPr>
        <p:spPr>
          <a:xfrm>
            <a:off x="14142574" y="9204733"/>
            <a:ext cx="229694" cy="874559"/>
          </a:xfrm>
          <a:custGeom>
            <a:avLst/>
            <a:gdLst/>
            <a:ahLst/>
            <a:cxnLst/>
            <a:rect l="l" t="t" r="r" b="b"/>
            <a:pathLst>
              <a:path w="229694" h="874559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14877419" y="9261815"/>
            <a:ext cx="1730010" cy="559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546" spc="-4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Limited rare severe</a:t>
            </a:r>
          </a:p>
          <a:p>
            <a:pPr algn="l">
              <a:lnSpc>
                <a:spcPts val="2320"/>
              </a:lnSpc>
            </a:pPr>
            <a:r>
              <a:rPr lang="en-US" sz="1546" spc="-4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cases available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213097" y="4291738"/>
            <a:ext cx="3073100" cy="27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0"/>
              </a:lnSpc>
            </a:pPr>
            <a:r>
              <a:rPr lang="en-US" sz="1546" b="1" spc="-46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SEVERITY CLASS DISTRIBUTION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034647" y="4291738"/>
            <a:ext cx="2568714" cy="27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0"/>
              </a:lnSpc>
            </a:pPr>
            <a:r>
              <a:rPr lang="en-US" sz="1546" b="1" spc="-46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MISSING VALUE ANALYSIS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52062" y="4186312"/>
            <a:ext cx="1928623" cy="27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0"/>
              </a:lnSpc>
            </a:pPr>
            <a:r>
              <a:rPr lang="en-US" sz="1546" b="1" spc="-46">
                <a:solidFill>
                  <a:srgbClr val="E84C22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india Road Safety Data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770241" y="6234586"/>
            <a:ext cx="1292266" cy="27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0"/>
              </a:lnSpc>
            </a:pPr>
            <a:r>
              <a:rPr lang="en-US" sz="1546" spc="-4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Total Features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789899" y="5210449"/>
            <a:ext cx="1252948" cy="27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0"/>
              </a:lnSpc>
            </a:pPr>
            <a:r>
              <a:rPr lang="en-US" sz="1546" spc="-4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Total Records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459797" y="6068056"/>
            <a:ext cx="554626" cy="395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5"/>
              </a:lnSpc>
            </a:pPr>
            <a:r>
              <a:rPr lang="en-US" sz="1265" spc="-5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Missing Rate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177032" y="5779377"/>
            <a:ext cx="519937" cy="394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sz="3036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49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429749" y="4849658"/>
            <a:ext cx="723306" cy="315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863" b="1" spc="-55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72.4%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527083" y="7605123"/>
            <a:ext cx="678193" cy="27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0"/>
              </a:lnSpc>
            </a:pPr>
            <a:r>
              <a:rPr lang="en-US" sz="1546" spc="-4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Serious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510161" y="6205134"/>
            <a:ext cx="712038" cy="315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863" b="1" spc="-55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22.7%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557581" y="7605123"/>
            <a:ext cx="502468" cy="27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0"/>
              </a:lnSpc>
            </a:pPr>
            <a:r>
              <a:rPr lang="en-US" sz="1546" spc="-4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Slight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667862" y="7605123"/>
            <a:ext cx="432603" cy="27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0"/>
              </a:lnSpc>
            </a:pPr>
            <a:r>
              <a:rPr lang="en-US" sz="1546" spc="-4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Fatal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461640" y="5089516"/>
            <a:ext cx="370402" cy="246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3"/>
              </a:lnSpc>
            </a:pPr>
            <a:r>
              <a:rPr lang="en-US" sz="1335" spc="-39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High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461955" y="7107669"/>
            <a:ext cx="338850" cy="246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3"/>
              </a:lnSpc>
            </a:pPr>
            <a:r>
              <a:rPr lang="en-US" sz="1335" spc="-39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445598" y="0"/>
            <a:ext cx="6759560" cy="3432644"/>
          </a:xfrm>
          <a:custGeom>
            <a:avLst/>
            <a:gdLst/>
            <a:ahLst/>
            <a:cxnLst/>
            <a:rect l="l" t="t" r="r" b="b"/>
            <a:pathLst>
              <a:path w="6759560" h="3432644">
                <a:moveTo>
                  <a:pt x="0" y="0"/>
                </a:moveTo>
                <a:lnTo>
                  <a:pt x="6759560" y="0"/>
                </a:lnTo>
                <a:lnTo>
                  <a:pt x="6759560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92042" y="488627"/>
            <a:ext cx="7768411" cy="1920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03"/>
              </a:lnSpc>
            </a:pPr>
            <a:r>
              <a:rPr lang="en-US" sz="7403" b="1">
                <a:solidFill>
                  <a:srgbClr val="F8F8F8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Machine Learning Algorithms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72455" y="2651184"/>
            <a:ext cx="9727182" cy="41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168" b="1" spc="63">
                <a:solidFill>
                  <a:srgbClr val="E14B24"/>
                </a:solidFill>
                <a:latin typeface="Inter Bold"/>
                <a:ea typeface="Inter Bold"/>
                <a:cs typeface="Inter Bold"/>
                <a:sym typeface="Inter Bold"/>
              </a:rPr>
              <a:t>COMPARISON OF SIX CANDIDATE CLASSIFIERS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3214004"/>
            <a:ext cx="16997340" cy="1082267"/>
          </a:xfrm>
          <a:custGeom>
            <a:avLst/>
            <a:gdLst/>
            <a:ahLst/>
            <a:cxnLst/>
            <a:rect l="l" t="t" r="r" b="b"/>
            <a:pathLst>
              <a:path w="16997340" h="1082267">
                <a:moveTo>
                  <a:pt x="0" y="0"/>
                </a:moveTo>
                <a:lnTo>
                  <a:pt x="16997340" y="0"/>
                </a:lnTo>
                <a:lnTo>
                  <a:pt x="1699734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77909" y="3622870"/>
            <a:ext cx="1328660" cy="259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34">
                <a:solidFill>
                  <a:srgbClr val="F8F8F8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ALGORITHM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92630" y="3622870"/>
            <a:ext cx="3123763" cy="259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34">
                <a:solidFill>
                  <a:srgbClr val="F8F8F8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CLASSIFICATION APPROACH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35930" y="3622870"/>
            <a:ext cx="1345331" cy="259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34">
                <a:solidFill>
                  <a:srgbClr val="F8F8F8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STRENGTHS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466318" y="3622870"/>
            <a:ext cx="3536968" cy="259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34">
                <a:solidFill>
                  <a:srgbClr val="F8F8F8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LIMITATIONS &amp; TRAINING NOTES</a:t>
            </a:r>
          </a:p>
        </p:txBody>
      </p:sp>
      <p:sp>
        <p:nvSpPr>
          <p:cNvPr id="11" name="Freeform 11"/>
          <p:cNvSpPr/>
          <p:nvPr/>
        </p:nvSpPr>
        <p:spPr>
          <a:xfrm>
            <a:off x="645330" y="4066699"/>
            <a:ext cx="16997340" cy="4722618"/>
          </a:xfrm>
          <a:custGeom>
            <a:avLst/>
            <a:gdLst/>
            <a:ahLst/>
            <a:cxnLst/>
            <a:rect l="l" t="t" r="r" b="b"/>
            <a:pathLst>
              <a:path w="16997340" h="4722618">
                <a:moveTo>
                  <a:pt x="0" y="0"/>
                </a:moveTo>
                <a:lnTo>
                  <a:pt x="16997340" y="0"/>
                </a:lnTo>
                <a:lnTo>
                  <a:pt x="16997340" y="4722619"/>
                </a:lnTo>
                <a:lnTo>
                  <a:pt x="0" y="47226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475217" y="4249890"/>
            <a:ext cx="2647008" cy="535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37">
                <a:solidFill>
                  <a:srgbClr val="F8F8F8"/>
                </a:solidFill>
                <a:latin typeface="Neue Montreal"/>
                <a:ea typeface="Neue Montreal"/>
                <a:cs typeface="Neue Montreal"/>
                <a:sym typeface="Neue Montreal"/>
              </a:rPr>
              <a:t>Limited ability to capture nonlinear relationships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96487" y="5836814"/>
            <a:ext cx="2737984" cy="259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F8F8F8"/>
                </a:solidFill>
                <a:latin typeface="Neue Montreal"/>
                <a:ea typeface="Neue Montreal"/>
                <a:cs typeface="Neue Montreal"/>
                <a:sym typeface="Neue Montreal"/>
              </a:rPr>
              <a:t>Ensemble of decision trees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18698" y="5846339"/>
            <a:ext cx="3068447" cy="535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37">
                <a:solidFill>
                  <a:srgbClr val="F8F8F8"/>
                </a:solidFill>
                <a:latin typeface="Neue Montreal"/>
                <a:ea typeface="Neue Montreal"/>
                <a:cs typeface="Neue Montreal"/>
                <a:sym typeface="Neue Montreal"/>
              </a:rPr>
              <a:t>Improved accuracy, handles nonlinearity and interactions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477035" y="5846339"/>
            <a:ext cx="2465291" cy="535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37">
                <a:solidFill>
                  <a:srgbClr val="F8F8F8"/>
                </a:solidFill>
                <a:latin typeface="Neue Montreal"/>
                <a:ea typeface="Neue Montreal"/>
                <a:cs typeface="Neue Montreal"/>
                <a:sym typeface="Neue Montreal"/>
              </a:rPr>
              <a:t>Higher memory usage,</a:t>
            </a:r>
          </a:p>
          <a:p>
            <a:pPr algn="l">
              <a:lnSpc>
                <a:spcPts val="2236"/>
              </a:lnSpc>
            </a:pPr>
            <a:r>
              <a:rPr lang="en-US" sz="1863" spc="-37">
                <a:solidFill>
                  <a:srgbClr val="F8F8F8"/>
                </a:solidFill>
                <a:latin typeface="Neue Montreal"/>
                <a:ea typeface="Neue Montreal"/>
                <a:cs typeface="Neue Montreal"/>
                <a:sym typeface="Neue Montreal"/>
              </a:rPr>
              <a:t>more training time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8605" y="6650099"/>
            <a:ext cx="3259006" cy="259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34">
                <a:solidFill>
                  <a:srgbClr val="F8F8F8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Support Vector Machine (SVM)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96727" y="6650099"/>
            <a:ext cx="2713981" cy="259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F8F8F8"/>
                </a:solidFill>
                <a:latin typeface="Neue Montreal"/>
                <a:ea typeface="Neue Montreal"/>
                <a:cs typeface="Neue Montreal"/>
                <a:sym typeface="Neue Montreal"/>
              </a:rPr>
              <a:t>Maximum margin classifier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17988" y="6659625"/>
            <a:ext cx="3139498" cy="535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37">
                <a:solidFill>
                  <a:srgbClr val="F8F8F8"/>
                </a:solidFill>
                <a:latin typeface="Neue Montreal"/>
                <a:ea typeface="Neue Montreal"/>
                <a:cs typeface="Neue Montreal"/>
                <a:sym typeface="Neue Montreal"/>
              </a:rPr>
              <a:t>Effective in high-dimensional feature spaces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469982" y="6659625"/>
            <a:ext cx="3170573" cy="535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37">
                <a:solidFill>
                  <a:srgbClr val="F8F8F8"/>
                </a:solidFill>
                <a:latin typeface="Neue Montreal"/>
                <a:ea typeface="Neue Montreal"/>
                <a:cs typeface="Neue Montreal"/>
                <a:sym typeface="Neue Montreal"/>
              </a:rPr>
              <a:t>Sensitive to parameter tuning and kernel choice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2103" y="7508567"/>
            <a:ext cx="2909255" cy="259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34">
                <a:solidFill>
                  <a:srgbClr val="F8F8F8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K-Nearest Neighbors (KNN)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99327" y="7508567"/>
            <a:ext cx="2454029" cy="259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F8F8F8"/>
                </a:solidFill>
                <a:latin typeface="Neue Montreal"/>
                <a:ea typeface="Neue Montreal"/>
                <a:cs typeface="Neue Montreal"/>
                <a:sym typeface="Neue Montreal"/>
              </a:rPr>
              <a:t>Instance-based learning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77403" y="7518092"/>
            <a:ext cx="2428400" cy="535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37">
                <a:solidFill>
                  <a:srgbClr val="F8F8F8"/>
                </a:solidFill>
                <a:latin typeface="Neue Montreal"/>
                <a:ea typeface="Neue Montreal"/>
                <a:cs typeface="Neue Montreal"/>
                <a:sym typeface="Neue Montreal"/>
              </a:rPr>
              <a:t>Sensitive to noisy data</a:t>
            </a:r>
          </a:p>
          <a:p>
            <a:pPr algn="l">
              <a:lnSpc>
                <a:spcPts val="2236"/>
              </a:lnSpc>
            </a:pPr>
            <a:r>
              <a:rPr lang="en-US" sz="1863" spc="-37">
                <a:solidFill>
                  <a:srgbClr val="F8F8F8"/>
                </a:solidFill>
                <a:latin typeface="Neue Montreal"/>
                <a:ea typeface="Neue Montreal"/>
                <a:cs typeface="Neue Montreal"/>
                <a:sym typeface="Neue Montreal"/>
              </a:rPr>
              <a:t>and feature scaling</a:t>
            </a:r>
          </a:p>
        </p:txBody>
      </p:sp>
      <p:sp>
        <p:nvSpPr>
          <p:cNvPr id="23" name="Freeform 23"/>
          <p:cNvSpPr/>
          <p:nvPr/>
        </p:nvSpPr>
        <p:spPr>
          <a:xfrm>
            <a:off x="645330" y="8778386"/>
            <a:ext cx="16997340" cy="1508614"/>
          </a:xfrm>
          <a:custGeom>
            <a:avLst/>
            <a:gdLst/>
            <a:ahLst/>
            <a:cxnLst/>
            <a:rect l="l" t="t" r="r" b="b"/>
            <a:pathLst>
              <a:path w="16997340" h="1508614">
                <a:moveTo>
                  <a:pt x="0" y="0"/>
                </a:moveTo>
                <a:lnTo>
                  <a:pt x="16997340" y="0"/>
                </a:lnTo>
                <a:lnTo>
                  <a:pt x="1699734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184111" y="9385637"/>
            <a:ext cx="4818552" cy="535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37">
                <a:solidFill>
                  <a:srgbClr val="F8F8F8"/>
                </a:solidFill>
                <a:latin typeface="Neue Montreal"/>
                <a:ea typeface="Neue Montreal"/>
                <a:cs typeface="Neue Montreal"/>
                <a:sym typeface="Neue Montreal"/>
              </a:rPr>
              <a:t>Stratified train-test split with crossValidation ensures robust evaluation and generalization.</a:t>
            </a:r>
          </a:p>
        </p:txBody>
      </p:sp>
      <p:sp>
        <p:nvSpPr>
          <p:cNvPr id="25" name="Freeform 25"/>
          <p:cNvSpPr/>
          <p:nvPr/>
        </p:nvSpPr>
        <p:spPr>
          <a:xfrm>
            <a:off x="8487732" y="8997026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9264590" y="9059834"/>
            <a:ext cx="3121426" cy="259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34">
                <a:solidFill>
                  <a:srgbClr val="E14B24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MODEL SELECTION CRITERIA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31762" y="9385637"/>
            <a:ext cx="6404250" cy="535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37">
                <a:solidFill>
                  <a:srgbClr val="F8F8F8"/>
                </a:solidFill>
                <a:latin typeface="Neue Montreal"/>
                <a:ea typeface="Neue Montreal"/>
                <a:cs typeface="Neue Montreal"/>
                <a:sym typeface="Neue Montreal"/>
              </a:rPr>
              <a:t>Models are compared using balanced performance metrics with focus on severity class prediction.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94005" y="8321853"/>
            <a:ext cx="2986267" cy="259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F8F8F8"/>
                </a:solidFill>
                <a:latin typeface="Neue Montreal"/>
                <a:ea typeface="Neue Montreal"/>
                <a:cs typeface="Neue Montreal"/>
                <a:sym typeface="Neue Montreal"/>
              </a:rPr>
              <a:t>Sequential ensemble learning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20337" y="8321853"/>
            <a:ext cx="2904581" cy="259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F8F8F8"/>
                </a:solidFill>
                <a:latin typeface="Neue Montreal"/>
                <a:ea typeface="Neue Montreal"/>
                <a:cs typeface="Neue Montreal"/>
                <a:sym typeface="Neue Montreal"/>
              </a:rPr>
              <a:t>High predictive performance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23297" y="4240365"/>
            <a:ext cx="2608614" cy="259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F8F8F8"/>
                </a:solidFill>
                <a:latin typeface="Neue Montreal"/>
                <a:ea typeface="Neue Montreal"/>
                <a:cs typeface="Neue Montreal"/>
                <a:sym typeface="Neue Montreal"/>
              </a:rPr>
              <a:t>Interpretable and efficient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197055" y="4240365"/>
            <a:ext cx="2681188" cy="259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F8F8F8"/>
                </a:solidFill>
                <a:latin typeface="Neue Montreal"/>
                <a:ea typeface="Neue Montreal"/>
                <a:cs typeface="Neue Montreal"/>
                <a:sym typeface="Neue Montreal"/>
              </a:rPr>
              <a:t>Linear classification model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05700" y="9059834"/>
            <a:ext cx="2659645" cy="259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34">
                <a:solidFill>
                  <a:srgbClr val="E14B24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TRAINING &amp; VALIDATION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197924" y="5113894"/>
            <a:ext cx="2594283" cy="259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F8F8F8"/>
                </a:solidFill>
                <a:latin typeface="Neue Montreal"/>
                <a:ea typeface="Neue Montreal"/>
                <a:cs typeface="Neue Montreal"/>
                <a:sym typeface="Neue Montreal"/>
              </a:rPr>
              <a:t>Rule-based tree structure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328707" y="7508567"/>
            <a:ext cx="2067605" cy="259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F8F8F8"/>
                </a:solidFill>
                <a:latin typeface="Neue Montreal"/>
                <a:ea typeface="Neue Montreal"/>
                <a:cs typeface="Neue Montreal"/>
                <a:sym typeface="Neue Montreal"/>
              </a:rPr>
              <a:t>Simple to implement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481458" y="8321853"/>
            <a:ext cx="2022923" cy="259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F8F8F8"/>
                </a:solidFill>
                <a:latin typeface="Neue Montreal"/>
                <a:ea typeface="Neue Montreal"/>
                <a:cs typeface="Neue Montreal"/>
                <a:sym typeface="Neue Montreal"/>
              </a:rPr>
              <a:t>Longer training time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70757" y="4240365"/>
            <a:ext cx="2043820" cy="259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34">
                <a:solidFill>
                  <a:srgbClr val="F8F8F8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Logistic Regression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72445" y="8321853"/>
            <a:ext cx="1875004" cy="259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34">
                <a:solidFill>
                  <a:srgbClr val="F8F8F8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Gradient Boosting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482268" y="5113894"/>
            <a:ext cx="1941902" cy="259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F8F8F8"/>
                </a:solidFill>
                <a:latin typeface="Neue Montreal"/>
                <a:ea typeface="Neue Montreal"/>
                <a:cs typeface="Neue Montreal"/>
                <a:sym typeface="Neue Montreal"/>
              </a:rPr>
              <a:t>Prone to overfitting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32826" y="5113894"/>
            <a:ext cx="1655723" cy="259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F8F8F8"/>
                </a:solidFill>
                <a:latin typeface="Neue Montreal"/>
                <a:ea typeface="Neue Montreal"/>
                <a:cs typeface="Neue Montreal"/>
                <a:sym typeface="Neue Montreal"/>
              </a:rPr>
              <a:t>Easy to interpret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75348" y="5836814"/>
            <a:ext cx="1584716" cy="259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34">
                <a:solidFill>
                  <a:srgbClr val="F8F8F8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Random Forest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76814" y="5113894"/>
            <a:ext cx="1438122" cy="259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34">
                <a:solidFill>
                  <a:srgbClr val="F8F8F8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Decision Tree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92013" y="720889"/>
            <a:ext cx="7771330" cy="764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94"/>
              </a:lnSpc>
            </a:pPr>
            <a:r>
              <a:rPr lang="en-US" sz="5794" b="1" spc="-115">
                <a:solidFill>
                  <a:srgbClr val="FFFFFF">
                    <a:alpha val="84706"/>
                  </a:srgbClr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MODEL EVALUATION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17776" y="1488992"/>
            <a:ext cx="5195084" cy="764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94"/>
              </a:lnSpc>
            </a:pPr>
            <a:r>
              <a:rPr lang="en-US" sz="5794" b="1" spc="-115">
                <a:solidFill>
                  <a:srgbClr val="E64523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AND RESULTS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7592" y="2390826"/>
            <a:ext cx="6213486" cy="30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1" spc="-47">
                <a:solidFill>
                  <a:srgbClr val="FFFFFF">
                    <a:alpha val="84706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Performance metrics and model comparison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2776725"/>
            <a:ext cx="3926670" cy="229572"/>
          </a:xfrm>
          <a:custGeom>
            <a:avLst/>
            <a:gdLst/>
            <a:ahLst/>
            <a:cxnLst/>
            <a:rect l="l" t="t" r="r" b="b"/>
            <a:pathLst>
              <a:path w="3926670" h="229572">
                <a:moveTo>
                  <a:pt x="0" y="0"/>
                </a:moveTo>
                <a:lnTo>
                  <a:pt x="3926670" y="0"/>
                </a:lnTo>
                <a:lnTo>
                  <a:pt x="392667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5330" y="2995365"/>
            <a:ext cx="7197072" cy="6220301"/>
          </a:xfrm>
          <a:custGeom>
            <a:avLst/>
            <a:gdLst/>
            <a:ahLst/>
            <a:cxnLst/>
            <a:rect l="l" t="t" r="r" b="b"/>
            <a:pathLst>
              <a:path w="7197072" h="6220301">
                <a:moveTo>
                  <a:pt x="0" y="0"/>
                </a:moveTo>
                <a:lnTo>
                  <a:pt x="7197072" y="0"/>
                </a:lnTo>
                <a:lnTo>
                  <a:pt x="7197072" y="6220300"/>
                </a:lnTo>
                <a:lnTo>
                  <a:pt x="0" y="6220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44078" y="3505328"/>
            <a:ext cx="3068810" cy="30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2351" b="1" spc="-47">
                <a:solidFill>
                  <a:srgbClr val="FFFFFF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CONFUSION MATRIX</a:t>
            </a:r>
          </a:p>
        </p:txBody>
      </p:sp>
      <p:sp>
        <p:nvSpPr>
          <p:cNvPr id="9" name="Freeform 9"/>
          <p:cNvSpPr/>
          <p:nvPr/>
        </p:nvSpPr>
        <p:spPr>
          <a:xfrm>
            <a:off x="2384440" y="5138034"/>
            <a:ext cx="1760986" cy="1082267"/>
          </a:xfrm>
          <a:custGeom>
            <a:avLst/>
            <a:gdLst/>
            <a:ahLst/>
            <a:cxnLst/>
            <a:rect l="l" t="t" r="r" b="b"/>
            <a:pathLst>
              <a:path w="1760986" h="1082267">
                <a:moveTo>
                  <a:pt x="0" y="0"/>
                </a:moveTo>
                <a:lnTo>
                  <a:pt x="1760986" y="0"/>
                </a:lnTo>
                <a:lnTo>
                  <a:pt x="176098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915732" y="5138034"/>
            <a:ext cx="1750048" cy="1082267"/>
          </a:xfrm>
          <a:custGeom>
            <a:avLst/>
            <a:gdLst/>
            <a:ahLst/>
            <a:cxnLst/>
            <a:rect l="l" t="t" r="r" b="b"/>
            <a:pathLst>
              <a:path w="1750048" h="1082267">
                <a:moveTo>
                  <a:pt x="0" y="0"/>
                </a:moveTo>
                <a:lnTo>
                  <a:pt x="1750048" y="0"/>
                </a:lnTo>
                <a:lnTo>
                  <a:pt x="175004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436086" y="5138034"/>
            <a:ext cx="1750048" cy="1082267"/>
          </a:xfrm>
          <a:custGeom>
            <a:avLst/>
            <a:gdLst/>
            <a:ahLst/>
            <a:cxnLst/>
            <a:rect l="l" t="t" r="r" b="b"/>
            <a:pathLst>
              <a:path w="1750048" h="1082267">
                <a:moveTo>
                  <a:pt x="0" y="0"/>
                </a:moveTo>
                <a:lnTo>
                  <a:pt x="1750048" y="0"/>
                </a:lnTo>
                <a:lnTo>
                  <a:pt x="175004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384440" y="6209369"/>
            <a:ext cx="1760986" cy="1082267"/>
          </a:xfrm>
          <a:custGeom>
            <a:avLst/>
            <a:gdLst/>
            <a:ahLst/>
            <a:cxnLst/>
            <a:rect l="l" t="t" r="r" b="b"/>
            <a:pathLst>
              <a:path w="1760986" h="1082267">
                <a:moveTo>
                  <a:pt x="0" y="0"/>
                </a:moveTo>
                <a:lnTo>
                  <a:pt x="1760986" y="0"/>
                </a:lnTo>
                <a:lnTo>
                  <a:pt x="176098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3915732" y="6209369"/>
            <a:ext cx="1750048" cy="1082267"/>
          </a:xfrm>
          <a:custGeom>
            <a:avLst/>
            <a:gdLst/>
            <a:ahLst/>
            <a:cxnLst/>
            <a:rect l="l" t="t" r="r" b="b"/>
            <a:pathLst>
              <a:path w="1750048" h="1082267">
                <a:moveTo>
                  <a:pt x="0" y="0"/>
                </a:moveTo>
                <a:lnTo>
                  <a:pt x="1750048" y="0"/>
                </a:lnTo>
                <a:lnTo>
                  <a:pt x="175004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436086" y="6209369"/>
            <a:ext cx="1750048" cy="1082267"/>
          </a:xfrm>
          <a:custGeom>
            <a:avLst/>
            <a:gdLst/>
            <a:ahLst/>
            <a:cxnLst/>
            <a:rect l="l" t="t" r="r" b="b"/>
            <a:pathLst>
              <a:path w="1750048" h="1082267">
                <a:moveTo>
                  <a:pt x="0" y="0"/>
                </a:moveTo>
                <a:lnTo>
                  <a:pt x="1750048" y="0"/>
                </a:lnTo>
                <a:lnTo>
                  <a:pt x="175004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384440" y="7062064"/>
            <a:ext cx="1760986" cy="1300906"/>
          </a:xfrm>
          <a:custGeom>
            <a:avLst/>
            <a:gdLst/>
            <a:ahLst/>
            <a:cxnLst/>
            <a:rect l="l" t="t" r="r" b="b"/>
            <a:pathLst>
              <a:path w="1760986" h="1300906">
                <a:moveTo>
                  <a:pt x="0" y="0"/>
                </a:moveTo>
                <a:lnTo>
                  <a:pt x="1760986" y="0"/>
                </a:lnTo>
                <a:lnTo>
                  <a:pt x="176098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3915732" y="7062064"/>
            <a:ext cx="1750048" cy="1300906"/>
          </a:xfrm>
          <a:custGeom>
            <a:avLst/>
            <a:gdLst/>
            <a:ahLst/>
            <a:cxnLst/>
            <a:rect l="l" t="t" r="r" b="b"/>
            <a:pathLst>
              <a:path w="1750048" h="1300906">
                <a:moveTo>
                  <a:pt x="0" y="0"/>
                </a:moveTo>
                <a:lnTo>
                  <a:pt x="1750048" y="0"/>
                </a:lnTo>
                <a:lnTo>
                  <a:pt x="175004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5436086" y="7062064"/>
            <a:ext cx="1750048" cy="1300906"/>
          </a:xfrm>
          <a:custGeom>
            <a:avLst/>
            <a:gdLst/>
            <a:ahLst/>
            <a:cxnLst/>
            <a:rect l="l" t="t" r="r" b="b"/>
            <a:pathLst>
              <a:path w="1750048" h="1300906">
                <a:moveTo>
                  <a:pt x="0" y="0"/>
                </a:moveTo>
                <a:lnTo>
                  <a:pt x="1750048" y="0"/>
                </a:lnTo>
                <a:lnTo>
                  <a:pt x="175004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830803" y="8408009"/>
            <a:ext cx="4282958" cy="542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696" spc="-33">
                <a:solidFill>
                  <a:srgbClr val="FFFFFF">
                    <a:alpha val="6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Focus on high-severity recall and macro F1 due to class imbalance</a:t>
            </a:r>
          </a:p>
        </p:txBody>
      </p:sp>
      <p:sp>
        <p:nvSpPr>
          <p:cNvPr id="19" name="Freeform 19"/>
          <p:cNvSpPr/>
          <p:nvPr/>
        </p:nvSpPr>
        <p:spPr>
          <a:xfrm>
            <a:off x="7831464" y="2995365"/>
            <a:ext cx="9811206" cy="6220301"/>
          </a:xfrm>
          <a:custGeom>
            <a:avLst/>
            <a:gdLst/>
            <a:ahLst/>
            <a:cxnLst/>
            <a:rect l="l" t="t" r="r" b="b"/>
            <a:pathLst>
              <a:path w="9811206" h="6220301">
                <a:moveTo>
                  <a:pt x="0" y="0"/>
                </a:moveTo>
                <a:lnTo>
                  <a:pt x="9811206" y="0"/>
                </a:lnTo>
                <a:lnTo>
                  <a:pt x="9811206" y="6220300"/>
                </a:lnTo>
                <a:lnTo>
                  <a:pt x="0" y="6220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8248668" y="3505328"/>
            <a:ext cx="5594131" cy="30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1" spc="-47">
                <a:solidFill>
                  <a:srgbClr val="FFFFFF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MODEL PERFORMANCE COMPARISON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84834" y="3916877"/>
            <a:ext cx="1977491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38">
                <a:solidFill>
                  <a:srgbClr val="FFFFFF">
                    <a:alpha val="6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Illustrative Results</a:t>
            </a:r>
          </a:p>
        </p:txBody>
      </p:sp>
      <p:sp>
        <p:nvSpPr>
          <p:cNvPr id="22" name="Freeform 22"/>
          <p:cNvSpPr/>
          <p:nvPr/>
        </p:nvSpPr>
        <p:spPr>
          <a:xfrm>
            <a:off x="8268976" y="4493047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8725901" y="4705080"/>
            <a:ext cx="863880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-32">
                <a:solidFill>
                  <a:srgbClr val="FFFFFF">
                    <a:alpha val="84706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Accuracy</a:t>
            </a:r>
          </a:p>
        </p:txBody>
      </p:sp>
      <p:sp>
        <p:nvSpPr>
          <p:cNvPr id="24" name="Freeform 24"/>
          <p:cNvSpPr/>
          <p:nvPr/>
        </p:nvSpPr>
        <p:spPr>
          <a:xfrm>
            <a:off x="9789330" y="4493047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2184708" y="4493047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4142574" y="4493047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8268976" y="5138034"/>
            <a:ext cx="8717426" cy="2798589"/>
          </a:xfrm>
          <a:custGeom>
            <a:avLst/>
            <a:gdLst/>
            <a:ahLst/>
            <a:cxnLst/>
            <a:rect l="l" t="t" r="r" b="b"/>
            <a:pathLst>
              <a:path w="8717426" h="2798589">
                <a:moveTo>
                  <a:pt x="0" y="0"/>
                </a:moveTo>
                <a:lnTo>
                  <a:pt x="8717426" y="0"/>
                </a:lnTo>
                <a:lnTo>
                  <a:pt x="8717426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8268976" y="7707051"/>
            <a:ext cx="8936182" cy="229572"/>
          </a:xfrm>
          <a:custGeom>
            <a:avLst/>
            <a:gdLst/>
            <a:ahLst/>
            <a:cxnLst/>
            <a:rect l="l" t="t" r="r" b="b"/>
            <a:pathLst>
              <a:path w="8936182" h="229572">
                <a:moveTo>
                  <a:pt x="0" y="0"/>
                </a:moveTo>
                <a:lnTo>
                  <a:pt x="8936182" y="0"/>
                </a:lnTo>
                <a:lnTo>
                  <a:pt x="893618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8364273" y="8106963"/>
            <a:ext cx="1350856" cy="64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2047" b="1" spc="-40">
                <a:solidFill>
                  <a:srgbClr val="FFFFFF">
                    <a:alpha val="84706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Logistic Regression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35588" y="8106963"/>
            <a:ext cx="1039369" cy="64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2047" b="1" spc="-40">
                <a:solidFill>
                  <a:srgbClr val="FFFFFF">
                    <a:alpha val="84706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Decision Tree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022709" y="8106963"/>
            <a:ext cx="1001283" cy="64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2047" b="1" spc="-40">
                <a:solidFill>
                  <a:srgbClr val="FFFFFF">
                    <a:alpha val="84706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Random Forest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765342" y="8106963"/>
            <a:ext cx="1050032" cy="323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2047" spc="-40">
                <a:solidFill>
                  <a:srgbClr val="FFFFFF">
                    <a:alpha val="84706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XGBoost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398368" y="8106963"/>
            <a:ext cx="1551058" cy="64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2047" b="1" spc="-40">
                <a:solidFill>
                  <a:srgbClr val="FFFFFF">
                    <a:alpha val="84706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LightGBM</a:t>
            </a:r>
          </a:p>
          <a:p>
            <a:pPr algn="ctr">
              <a:lnSpc>
                <a:spcPts val="2661"/>
              </a:lnSpc>
            </a:pPr>
            <a:r>
              <a:rPr lang="en-US" sz="2047" b="1" spc="-40">
                <a:solidFill>
                  <a:srgbClr val="E64523">
                    <a:alpha val="84706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(Best Model)</a:t>
            </a:r>
          </a:p>
        </p:txBody>
      </p:sp>
      <p:sp>
        <p:nvSpPr>
          <p:cNvPr id="34" name="Freeform 34"/>
          <p:cNvSpPr/>
          <p:nvPr/>
        </p:nvSpPr>
        <p:spPr>
          <a:xfrm>
            <a:off x="645330" y="9204733"/>
            <a:ext cx="10248718" cy="874559"/>
          </a:xfrm>
          <a:custGeom>
            <a:avLst/>
            <a:gdLst/>
            <a:ahLst/>
            <a:cxnLst/>
            <a:rect l="l" t="t" r="r" b="b"/>
            <a:pathLst>
              <a:path w="10248718" h="874559">
                <a:moveTo>
                  <a:pt x="0" y="0"/>
                </a:moveTo>
                <a:lnTo>
                  <a:pt x="10248718" y="0"/>
                </a:lnTo>
                <a:lnTo>
                  <a:pt x="1024871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709045" y="9579753"/>
            <a:ext cx="9462688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-38">
                <a:solidFill>
                  <a:srgbClr val="E64523">
                    <a:alpha val="69804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Note:</a:t>
            </a:r>
            <a:r>
              <a:rPr lang="en-US" sz="1916" b="1" spc="-38">
                <a:solidFill>
                  <a:srgbClr val="FFFFFF">
                    <a:alpha val="69804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 </a:t>
            </a:r>
            <a:r>
              <a:rPr lang="en-US" sz="1916" spc="-38">
                <a:solidFill>
                  <a:srgbClr val="FFFFFF">
                    <a:alpha val="6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Results are illustrative and pending actual training and evaluation on the dataset.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986502" y="3876734"/>
            <a:ext cx="3183962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-32">
                <a:solidFill>
                  <a:srgbClr val="FFFFFF">
                    <a:alpha val="69804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Best Performing Model (Illustrative)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309410" y="4705080"/>
            <a:ext cx="1600564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-32">
                <a:solidFill>
                  <a:srgbClr val="FFFFFF">
                    <a:alpha val="84706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Precision (Macro)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726182" y="4705080"/>
            <a:ext cx="1553832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-32">
                <a:solidFill>
                  <a:srgbClr val="FFFFFF">
                    <a:alpha val="84706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F1-score (Macro)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639847" y="4705080"/>
            <a:ext cx="1310057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-32">
                <a:solidFill>
                  <a:srgbClr val="FFFFFF">
                    <a:alpha val="84706"/>
                  </a:srgbClr>
                </a:solidFill>
                <a:latin typeface="Neue Montreal"/>
                <a:ea typeface="Neue Montreal"/>
                <a:cs typeface="Neue Montreal"/>
                <a:sym typeface="Neue Montreal"/>
              </a:rPr>
              <a:t>Recall (Macro)</a:t>
            </a:r>
          </a:p>
        </p:txBody>
      </p:sp>
      <p:sp>
        <p:nvSpPr>
          <p:cNvPr id="40" name="TextBox 40"/>
          <p:cNvSpPr txBox="1"/>
          <p:nvPr/>
        </p:nvSpPr>
        <p:spPr>
          <a:xfrm rot="-5400000">
            <a:off x="606939" y="6111274"/>
            <a:ext cx="812386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>
                    <a:alpha val="84706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ACTUAL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200330" y="4420441"/>
            <a:ext cx="1181788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>
                    <a:alpha val="69804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PREDICTED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08889" y="6634385"/>
            <a:ext cx="879649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>
                    <a:alpha val="84706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MEDIUM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420247" y="4857205"/>
            <a:ext cx="879649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>
                    <a:alpha val="69804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MEDIUM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665548" y="5610247"/>
            <a:ext cx="497598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>
                    <a:alpha val="84706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LOW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650666" y="7643461"/>
            <a:ext cx="527361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>
                    <a:alpha val="84706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HIGH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176946" y="4857205"/>
            <a:ext cx="527361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>
                    <a:alpha val="69804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HIGH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030718" y="4857205"/>
            <a:ext cx="497598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32">
                <a:solidFill>
                  <a:srgbClr val="FFFFFF">
                    <a:alpha val="69804"/>
                  </a:srgbClr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LOW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634987" y="6628737"/>
            <a:ext cx="450168" cy="273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sz="2047" b="1" spc="-40">
                <a:solidFill>
                  <a:srgbClr val="1C253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150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212074" y="7622753"/>
            <a:ext cx="457105" cy="273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sz="2047" b="1" spc="-40">
                <a:solidFill>
                  <a:srgbClr val="1C253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160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050898" y="5604600"/>
            <a:ext cx="457238" cy="273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sz="2047" b="1" spc="-40">
                <a:solidFill>
                  <a:srgbClr val="1C253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180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270496" y="6628737"/>
            <a:ext cx="340262" cy="273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sz="2047" b="1" spc="-40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30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111587" y="6628737"/>
            <a:ext cx="335860" cy="273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sz="2047" b="1" spc="-40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20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698544" y="5604600"/>
            <a:ext cx="323055" cy="273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sz="2047" b="1" spc="-40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25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692142" y="7622753"/>
            <a:ext cx="335860" cy="273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sz="2047" b="1" spc="-40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20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300174" y="5604600"/>
            <a:ext cx="280905" cy="273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sz="2047" b="1" spc="-40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10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199220" y="7622753"/>
            <a:ext cx="160594" cy="273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sz="2047" b="1" spc="-40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8227" y="514611"/>
            <a:ext cx="8434328" cy="1468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29"/>
              </a:lnSpc>
            </a:pPr>
            <a:r>
              <a:rPr lang="en-US" sz="5729" b="1">
                <a:solidFill>
                  <a:srgbClr val="F0F0F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Prediction Interface</a:t>
            </a:r>
          </a:p>
          <a:p>
            <a:pPr algn="l">
              <a:lnSpc>
                <a:spcPts val="5729"/>
              </a:lnSpc>
            </a:pPr>
            <a:r>
              <a:rPr lang="en-US" sz="5729" b="1">
                <a:solidFill>
                  <a:srgbClr val="F0F0F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and </a:t>
            </a:r>
            <a:r>
              <a:rPr lang="en-US" sz="5729" b="1">
                <a:solidFill>
                  <a:srgbClr val="ED4923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Practical Application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426574" y="2142670"/>
            <a:ext cx="3718852" cy="218640"/>
          </a:xfrm>
          <a:custGeom>
            <a:avLst/>
            <a:gdLst/>
            <a:ahLst/>
            <a:cxnLst/>
            <a:rect l="l" t="t" r="r" b="b"/>
            <a:pathLst>
              <a:path w="3718852" h="218640">
                <a:moveTo>
                  <a:pt x="0" y="0"/>
                </a:moveTo>
                <a:lnTo>
                  <a:pt x="3718852" y="0"/>
                </a:lnTo>
                <a:lnTo>
                  <a:pt x="371885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39047" y="2649253"/>
            <a:ext cx="2352304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 b="1" spc="-38">
                <a:solidFill>
                  <a:srgbClr val="ED4923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SYSTEM IN ACTION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3800" y="3010713"/>
            <a:ext cx="3877003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 spc="-38">
                <a:solidFill>
                  <a:srgbClr val="F0F0F0"/>
                </a:solidFill>
                <a:latin typeface="Neue Montreal"/>
                <a:ea typeface="Neue Montreal"/>
                <a:cs typeface="Neue Montreal"/>
                <a:sym typeface="Neue Montreal"/>
              </a:rPr>
              <a:t>Severity prediction tool in real time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6664" y="3839059"/>
            <a:ext cx="2590603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 b="1" spc="-38">
                <a:solidFill>
                  <a:srgbClr val="ED4923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SMART PREDICTIONS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1642" y="4176084"/>
            <a:ext cx="4092851" cy="64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40">
                <a:solidFill>
                  <a:srgbClr val="F0F0F0"/>
                </a:solidFill>
                <a:latin typeface="Neue Montreal"/>
                <a:ea typeface="Neue Montreal"/>
                <a:cs typeface="Neue Montreal"/>
                <a:sym typeface="Neue Montreal"/>
              </a:rPr>
              <a:t>Input conditions, get severity class with confidence and key drivers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5331" y="5360205"/>
            <a:ext cx="4650142" cy="2969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 b="1" spc="-38" dirty="0">
                <a:solidFill>
                  <a:srgbClr val="ED4923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INSIGHTFUL DASHBOARD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8398" y="5682168"/>
            <a:ext cx="3417240" cy="64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40" dirty="0">
                <a:solidFill>
                  <a:srgbClr val="F0F0F0"/>
                </a:solidFill>
                <a:latin typeface="Neue Montreal"/>
                <a:ea typeface="Neue Montreal"/>
                <a:cs typeface="Neue Montreal"/>
                <a:sym typeface="Neue Montreal"/>
              </a:rPr>
              <a:t>Accident patterns and model performance at a glance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5967" y="6866288"/>
            <a:ext cx="2660308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 b="1" spc="-38">
                <a:solidFill>
                  <a:srgbClr val="ED4923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MEANINGFUL IMPACT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2558" y="7203313"/>
            <a:ext cx="4001205" cy="966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4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Enables safer road planning, </a:t>
            </a:r>
          </a:p>
          <a:p>
            <a:pPr algn="l">
              <a:lnSpc>
                <a:spcPts val="2661"/>
              </a:lnSpc>
            </a:pPr>
            <a:r>
              <a:rPr lang="en-US" sz="2047" spc="-4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risk identification, and emergency preparedness support</a:t>
            </a:r>
          </a:p>
        </p:txBody>
      </p:sp>
      <p:sp>
        <p:nvSpPr>
          <p:cNvPr id="13" name="Freeform 13"/>
          <p:cNvSpPr/>
          <p:nvPr/>
        </p:nvSpPr>
        <p:spPr>
          <a:xfrm>
            <a:off x="426574" y="8352038"/>
            <a:ext cx="5239206" cy="1934962"/>
          </a:xfrm>
          <a:custGeom>
            <a:avLst/>
            <a:gdLst/>
            <a:ahLst/>
            <a:cxnLst/>
            <a:rect l="l" t="t" r="r" b="b"/>
            <a:pathLst>
              <a:path w="5239206" h="1934962">
                <a:moveTo>
                  <a:pt x="0" y="0"/>
                </a:moveTo>
                <a:lnTo>
                  <a:pt x="5239206" y="0"/>
                </a:lnTo>
                <a:lnTo>
                  <a:pt x="5239206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54939" y="8739347"/>
            <a:ext cx="2194415" cy="274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696" b="1" spc="-33">
                <a:solidFill>
                  <a:srgbClr val="ED4923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IMPORTANT NOTICE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6895" y="9085931"/>
            <a:ext cx="3998739" cy="757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2"/>
              </a:lnSpc>
            </a:pPr>
            <a:r>
              <a:rPr lang="en-US" sz="1617" spc="-32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Supports decision-making and awareness. Does not replace emergency services or guarantee accident prevention.</a:t>
            </a:r>
          </a:p>
        </p:txBody>
      </p:sp>
      <p:sp>
        <p:nvSpPr>
          <p:cNvPr id="16" name="Freeform 16"/>
          <p:cNvSpPr/>
          <p:nvPr/>
        </p:nvSpPr>
        <p:spPr>
          <a:xfrm>
            <a:off x="5654842" y="2142670"/>
            <a:ext cx="12206584" cy="644987"/>
          </a:xfrm>
          <a:custGeom>
            <a:avLst/>
            <a:gdLst/>
            <a:ahLst/>
            <a:cxnLst/>
            <a:rect l="l" t="t" r="r" b="b"/>
            <a:pathLst>
              <a:path w="12206584" h="644987">
                <a:moveTo>
                  <a:pt x="0" y="0"/>
                </a:moveTo>
                <a:lnTo>
                  <a:pt x="12206584" y="0"/>
                </a:lnTo>
                <a:lnTo>
                  <a:pt x="1220658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5873598" y="2776725"/>
            <a:ext cx="3270402" cy="6012593"/>
          </a:xfrm>
          <a:custGeom>
            <a:avLst/>
            <a:gdLst/>
            <a:ahLst/>
            <a:cxnLst/>
            <a:rect l="l" t="t" r="r" b="b"/>
            <a:pathLst>
              <a:path w="3270402" h="6012593">
                <a:moveTo>
                  <a:pt x="0" y="0"/>
                </a:moveTo>
                <a:lnTo>
                  <a:pt x="3270402" y="0"/>
                </a:lnTo>
                <a:lnTo>
                  <a:pt x="3270402" y="6012593"/>
                </a:lnTo>
                <a:lnTo>
                  <a:pt x="0" y="60125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092354" y="3640352"/>
            <a:ext cx="2843828" cy="437279"/>
          </a:xfrm>
          <a:custGeom>
            <a:avLst/>
            <a:gdLst/>
            <a:ahLst/>
            <a:cxnLst/>
            <a:rect l="l" t="t" r="r" b="b"/>
            <a:pathLst>
              <a:path w="2843828" h="437279">
                <a:moveTo>
                  <a:pt x="0" y="0"/>
                </a:moveTo>
                <a:lnTo>
                  <a:pt x="2843828" y="0"/>
                </a:lnTo>
                <a:lnTo>
                  <a:pt x="284382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6092354" y="4066699"/>
            <a:ext cx="2843828" cy="437279"/>
          </a:xfrm>
          <a:custGeom>
            <a:avLst/>
            <a:gdLst/>
            <a:ahLst/>
            <a:cxnLst/>
            <a:rect l="l" t="t" r="r" b="b"/>
            <a:pathLst>
              <a:path w="2843828" h="437279">
                <a:moveTo>
                  <a:pt x="0" y="0"/>
                </a:moveTo>
                <a:lnTo>
                  <a:pt x="2843828" y="0"/>
                </a:lnTo>
                <a:lnTo>
                  <a:pt x="2843828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092354" y="4285339"/>
            <a:ext cx="2843828" cy="644987"/>
          </a:xfrm>
          <a:custGeom>
            <a:avLst/>
            <a:gdLst/>
            <a:ahLst/>
            <a:cxnLst/>
            <a:rect l="l" t="t" r="r" b="b"/>
            <a:pathLst>
              <a:path w="2843828" h="644987">
                <a:moveTo>
                  <a:pt x="0" y="0"/>
                </a:moveTo>
                <a:lnTo>
                  <a:pt x="2843828" y="0"/>
                </a:lnTo>
                <a:lnTo>
                  <a:pt x="284382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092354" y="4711687"/>
            <a:ext cx="2843828" cy="655919"/>
          </a:xfrm>
          <a:custGeom>
            <a:avLst/>
            <a:gdLst/>
            <a:ahLst/>
            <a:cxnLst/>
            <a:rect l="l" t="t" r="r" b="b"/>
            <a:pathLst>
              <a:path w="2843828" h="655919">
                <a:moveTo>
                  <a:pt x="0" y="0"/>
                </a:moveTo>
                <a:lnTo>
                  <a:pt x="2843828" y="0"/>
                </a:lnTo>
                <a:lnTo>
                  <a:pt x="284382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6092354" y="4919394"/>
            <a:ext cx="2843828" cy="655919"/>
          </a:xfrm>
          <a:custGeom>
            <a:avLst/>
            <a:gdLst/>
            <a:ahLst/>
            <a:cxnLst/>
            <a:rect l="l" t="t" r="r" b="b"/>
            <a:pathLst>
              <a:path w="2843828" h="655919">
                <a:moveTo>
                  <a:pt x="0" y="0"/>
                </a:moveTo>
                <a:lnTo>
                  <a:pt x="2843828" y="0"/>
                </a:lnTo>
                <a:lnTo>
                  <a:pt x="284382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6092354" y="5564382"/>
            <a:ext cx="2843828" cy="437279"/>
          </a:xfrm>
          <a:custGeom>
            <a:avLst/>
            <a:gdLst/>
            <a:ahLst/>
            <a:cxnLst/>
            <a:rect l="l" t="t" r="r" b="b"/>
            <a:pathLst>
              <a:path w="2843828" h="437279">
                <a:moveTo>
                  <a:pt x="0" y="0"/>
                </a:moveTo>
                <a:lnTo>
                  <a:pt x="2843828" y="0"/>
                </a:lnTo>
                <a:lnTo>
                  <a:pt x="284382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6092354" y="5990729"/>
            <a:ext cx="2843828" cy="448211"/>
          </a:xfrm>
          <a:custGeom>
            <a:avLst/>
            <a:gdLst/>
            <a:ahLst/>
            <a:cxnLst/>
            <a:rect l="l" t="t" r="r" b="b"/>
            <a:pathLst>
              <a:path w="2843828" h="448211">
                <a:moveTo>
                  <a:pt x="0" y="0"/>
                </a:moveTo>
                <a:lnTo>
                  <a:pt x="2843828" y="0"/>
                </a:lnTo>
                <a:lnTo>
                  <a:pt x="2843828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6092354" y="6428009"/>
            <a:ext cx="2843828" cy="437279"/>
          </a:xfrm>
          <a:custGeom>
            <a:avLst/>
            <a:gdLst/>
            <a:ahLst/>
            <a:cxnLst/>
            <a:rect l="l" t="t" r="r" b="b"/>
            <a:pathLst>
              <a:path w="2843828" h="437279">
                <a:moveTo>
                  <a:pt x="0" y="0"/>
                </a:moveTo>
                <a:lnTo>
                  <a:pt x="2843828" y="0"/>
                </a:lnTo>
                <a:lnTo>
                  <a:pt x="284382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6092354" y="6854356"/>
            <a:ext cx="2843828" cy="437279"/>
          </a:xfrm>
          <a:custGeom>
            <a:avLst/>
            <a:gdLst/>
            <a:ahLst/>
            <a:cxnLst/>
            <a:rect l="l" t="t" r="r" b="b"/>
            <a:pathLst>
              <a:path w="2843828" h="437279">
                <a:moveTo>
                  <a:pt x="0" y="0"/>
                </a:moveTo>
                <a:lnTo>
                  <a:pt x="2843828" y="0"/>
                </a:lnTo>
                <a:lnTo>
                  <a:pt x="284382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6092354" y="7280704"/>
            <a:ext cx="2843828" cy="437279"/>
          </a:xfrm>
          <a:custGeom>
            <a:avLst/>
            <a:gdLst/>
            <a:ahLst/>
            <a:cxnLst/>
            <a:rect l="l" t="t" r="r" b="b"/>
            <a:pathLst>
              <a:path w="2843828" h="437279">
                <a:moveTo>
                  <a:pt x="0" y="0"/>
                </a:moveTo>
                <a:lnTo>
                  <a:pt x="2843828" y="0"/>
                </a:lnTo>
                <a:lnTo>
                  <a:pt x="284382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092354" y="7925691"/>
            <a:ext cx="2843828" cy="655919"/>
          </a:xfrm>
          <a:custGeom>
            <a:avLst/>
            <a:gdLst/>
            <a:ahLst/>
            <a:cxnLst/>
            <a:rect l="l" t="t" r="r" b="b"/>
            <a:pathLst>
              <a:path w="2843828" h="655919">
                <a:moveTo>
                  <a:pt x="0" y="0"/>
                </a:moveTo>
                <a:lnTo>
                  <a:pt x="2843828" y="0"/>
                </a:lnTo>
                <a:lnTo>
                  <a:pt x="284382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9144000" y="2776725"/>
            <a:ext cx="3707914" cy="3017228"/>
          </a:xfrm>
          <a:custGeom>
            <a:avLst/>
            <a:gdLst/>
            <a:ahLst/>
            <a:cxnLst/>
            <a:rect l="l" t="t" r="r" b="b"/>
            <a:pathLst>
              <a:path w="3707914" h="3017228">
                <a:moveTo>
                  <a:pt x="0" y="0"/>
                </a:moveTo>
                <a:lnTo>
                  <a:pt x="3707914" y="0"/>
                </a:lnTo>
                <a:lnTo>
                  <a:pt x="3707914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0269157" y="3659118"/>
            <a:ext cx="1323704" cy="52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4073" b="1">
                <a:solidFill>
                  <a:srgbClr val="ED4923"/>
                </a:solidFill>
                <a:latin typeface="Inter Bold"/>
                <a:ea typeface="Inter Bold"/>
                <a:cs typeface="Inter Bold"/>
                <a:sym typeface="Inter Bold"/>
              </a:rPr>
              <a:t>HIGH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78464" y="4713377"/>
            <a:ext cx="1105090" cy="52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4073" b="1">
                <a:solidFill>
                  <a:srgbClr val="ED4923"/>
                </a:solidFill>
                <a:latin typeface="Inter Bold"/>
                <a:ea typeface="Inter Bold"/>
                <a:cs typeface="Inter Bold"/>
                <a:sym typeface="Inter Bold"/>
              </a:rPr>
              <a:t>87%</a:t>
            </a:r>
          </a:p>
        </p:txBody>
      </p:sp>
      <p:sp>
        <p:nvSpPr>
          <p:cNvPr id="32" name="Freeform 32"/>
          <p:cNvSpPr/>
          <p:nvPr/>
        </p:nvSpPr>
        <p:spPr>
          <a:xfrm>
            <a:off x="9351818" y="5138034"/>
            <a:ext cx="3281340" cy="437279"/>
          </a:xfrm>
          <a:custGeom>
            <a:avLst/>
            <a:gdLst/>
            <a:ahLst/>
            <a:cxnLst/>
            <a:rect l="l" t="t" r="r" b="b"/>
            <a:pathLst>
              <a:path w="3281340" h="437279">
                <a:moveTo>
                  <a:pt x="0" y="0"/>
                </a:moveTo>
                <a:lnTo>
                  <a:pt x="3281340" y="0"/>
                </a:lnTo>
                <a:lnTo>
                  <a:pt x="328134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9144000" y="5783021"/>
            <a:ext cx="3707914" cy="3006296"/>
          </a:xfrm>
          <a:custGeom>
            <a:avLst/>
            <a:gdLst/>
            <a:ahLst/>
            <a:cxnLst/>
            <a:rect l="l" t="t" r="r" b="b"/>
            <a:pathLst>
              <a:path w="3707914" h="3006296">
                <a:moveTo>
                  <a:pt x="0" y="0"/>
                </a:moveTo>
                <a:lnTo>
                  <a:pt x="3707914" y="0"/>
                </a:lnTo>
                <a:lnTo>
                  <a:pt x="3707914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9417681" y="6451193"/>
            <a:ext cx="1206851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b="1" spc="-22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Weather Condition</a:t>
            </a:r>
          </a:p>
        </p:txBody>
      </p:sp>
      <p:sp>
        <p:nvSpPr>
          <p:cNvPr id="35" name="Freeform 35"/>
          <p:cNvSpPr/>
          <p:nvPr/>
        </p:nvSpPr>
        <p:spPr>
          <a:xfrm>
            <a:off x="10664354" y="6428009"/>
            <a:ext cx="1312536" cy="218640"/>
          </a:xfrm>
          <a:custGeom>
            <a:avLst/>
            <a:gdLst/>
            <a:ahLst/>
            <a:cxnLst/>
            <a:rect l="l" t="t" r="r" b="b"/>
            <a:pathLst>
              <a:path w="1312536" h="218640">
                <a:moveTo>
                  <a:pt x="0" y="0"/>
                </a:moveTo>
                <a:lnTo>
                  <a:pt x="1312536" y="0"/>
                </a:lnTo>
                <a:lnTo>
                  <a:pt x="131253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0664354" y="6635716"/>
            <a:ext cx="875024" cy="437279"/>
          </a:xfrm>
          <a:custGeom>
            <a:avLst/>
            <a:gdLst/>
            <a:ahLst/>
            <a:cxnLst/>
            <a:rect l="l" t="t" r="r" b="b"/>
            <a:pathLst>
              <a:path w="875024" h="437279">
                <a:moveTo>
                  <a:pt x="0" y="0"/>
                </a:moveTo>
                <a:lnTo>
                  <a:pt x="875024" y="0"/>
                </a:lnTo>
                <a:lnTo>
                  <a:pt x="87502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0664354" y="7062064"/>
            <a:ext cx="667206" cy="448211"/>
          </a:xfrm>
          <a:custGeom>
            <a:avLst/>
            <a:gdLst/>
            <a:ahLst/>
            <a:cxnLst/>
            <a:rect l="l" t="t" r="r" b="b"/>
            <a:pathLst>
              <a:path w="667206" h="448211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9422844" y="7505451"/>
            <a:ext cx="690637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b="1" spc="-22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Road Type</a:t>
            </a:r>
          </a:p>
        </p:txBody>
      </p:sp>
      <p:sp>
        <p:nvSpPr>
          <p:cNvPr id="39" name="Freeform 39"/>
          <p:cNvSpPr/>
          <p:nvPr/>
        </p:nvSpPr>
        <p:spPr>
          <a:xfrm>
            <a:off x="10664354" y="7499343"/>
            <a:ext cx="667206" cy="218640"/>
          </a:xfrm>
          <a:custGeom>
            <a:avLst/>
            <a:gdLst/>
            <a:ahLst/>
            <a:cxnLst/>
            <a:rect l="l" t="t" r="r" b="b"/>
            <a:pathLst>
              <a:path w="667206" h="218640">
                <a:moveTo>
                  <a:pt x="0" y="0"/>
                </a:moveTo>
                <a:lnTo>
                  <a:pt x="667206" y="0"/>
                </a:lnTo>
                <a:lnTo>
                  <a:pt x="66720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0664354" y="7707051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2840976" y="2776725"/>
            <a:ext cx="4801694" cy="3224936"/>
          </a:xfrm>
          <a:custGeom>
            <a:avLst/>
            <a:gdLst/>
            <a:ahLst/>
            <a:cxnLst/>
            <a:rect l="l" t="t" r="r" b="b"/>
            <a:pathLst>
              <a:path w="4801694" h="3224936">
                <a:moveTo>
                  <a:pt x="0" y="0"/>
                </a:moveTo>
                <a:lnTo>
                  <a:pt x="4801694" y="0"/>
                </a:lnTo>
                <a:lnTo>
                  <a:pt x="480169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3497244" y="3640352"/>
            <a:ext cx="3707914" cy="1508614"/>
          </a:xfrm>
          <a:custGeom>
            <a:avLst/>
            <a:gdLst/>
            <a:ahLst/>
            <a:cxnLst/>
            <a:rect l="l" t="t" r="r" b="b"/>
            <a:pathLst>
              <a:path w="3707914" h="1508614">
                <a:moveTo>
                  <a:pt x="0" y="0"/>
                </a:moveTo>
                <a:lnTo>
                  <a:pt x="3707914" y="0"/>
                </a:lnTo>
                <a:lnTo>
                  <a:pt x="370791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13573417" y="5562603"/>
            <a:ext cx="863756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b="1" spc="-22">
                <a:solidFill>
                  <a:srgbClr val="F0F0F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High Severity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857037" y="5562603"/>
            <a:ext cx="1089225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b="1" spc="-22">
                <a:solidFill>
                  <a:srgbClr val="F0F0F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Medium Severity</a:t>
            </a:r>
          </a:p>
        </p:txBody>
      </p:sp>
      <p:sp>
        <p:nvSpPr>
          <p:cNvPr id="45" name="Freeform 45"/>
          <p:cNvSpPr/>
          <p:nvPr/>
        </p:nvSpPr>
        <p:spPr>
          <a:xfrm>
            <a:off x="12840976" y="5990729"/>
            <a:ext cx="4801694" cy="2798589"/>
          </a:xfrm>
          <a:custGeom>
            <a:avLst/>
            <a:gdLst/>
            <a:ahLst/>
            <a:cxnLst/>
            <a:rect l="l" t="t" r="r" b="b"/>
            <a:pathLst>
              <a:path w="4801694" h="2798589">
                <a:moveTo>
                  <a:pt x="0" y="0"/>
                </a:moveTo>
                <a:lnTo>
                  <a:pt x="4801694" y="0"/>
                </a:lnTo>
                <a:lnTo>
                  <a:pt x="4801694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13079250" y="6299491"/>
            <a:ext cx="2060116" cy="274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696" b="1" spc="-33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Model Performance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219623" y="7218238"/>
            <a:ext cx="679322" cy="37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 spc="-47">
                <a:solidFill>
                  <a:srgbClr val="ED4923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92%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363113" y="7218238"/>
            <a:ext cx="617442" cy="37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 spc="-47">
                <a:solidFill>
                  <a:srgbClr val="ED4923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91%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5396584" y="7218238"/>
            <a:ext cx="693625" cy="37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 spc="-47">
                <a:solidFill>
                  <a:srgbClr val="ED4923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90%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6507526" y="7218238"/>
            <a:ext cx="693625" cy="37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 spc="-47">
                <a:solidFill>
                  <a:srgbClr val="ED4923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90%</a:t>
            </a:r>
          </a:p>
        </p:txBody>
      </p:sp>
      <p:sp>
        <p:nvSpPr>
          <p:cNvPr id="51" name="Freeform 51"/>
          <p:cNvSpPr/>
          <p:nvPr/>
        </p:nvSpPr>
        <p:spPr>
          <a:xfrm>
            <a:off x="5654842" y="8570678"/>
            <a:ext cx="12206584" cy="1716322"/>
          </a:xfrm>
          <a:custGeom>
            <a:avLst/>
            <a:gdLst/>
            <a:ahLst/>
            <a:cxnLst/>
            <a:rect l="l" t="t" r="r" b="b"/>
            <a:pathLst>
              <a:path w="12206584" h="1716322">
                <a:moveTo>
                  <a:pt x="0" y="0"/>
                </a:moveTo>
                <a:lnTo>
                  <a:pt x="12206584" y="0"/>
                </a:lnTo>
                <a:lnTo>
                  <a:pt x="1220658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52" name="TextBox 52"/>
          <p:cNvSpPr txBox="1"/>
          <p:nvPr/>
        </p:nvSpPr>
        <p:spPr>
          <a:xfrm>
            <a:off x="6219168" y="9236355"/>
            <a:ext cx="2268382" cy="274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696" b="1" spc="-33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Practical Applications</a:t>
            </a:r>
          </a:p>
        </p:txBody>
      </p:sp>
      <p:sp>
        <p:nvSpPr>
          <p:cNvPr id="53" name="Freeform 53"/>
          <p:cNvSpPr/>
          <p:nvPr/>
        </p:nvSpPr>
        <p:spPr>
          <a:xfrm>
            <a:off x="8487732" y="8778386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54" name="TextBox 54"/>
          <p:cNvSpPr txBox="1"/>
          <p:nvPr/>
        </p:nvSpPr>
        <p:spPr>
          <a:xfrm>
            <a:off x="9117497" y="9004680"/>
            <a:ext cx="1757327" cy="21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6"/>
              </a:lnSpc>
            </a:pPr>
            <a:r>
              <a:rPr lang="en-US" sz="1335" b="1" spc="-26">
                <a:solidFill>
                  <a:srgbClr val="ED4923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Road safety planning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114567" y="9261369"/>
            <a:ext cx="2050354" cy="49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3"/>
              </a:lnSpc>
            </a:pPr>
            <a:r>
              <a:rPr lang="en-US" sz="1335" spc="-2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Data-driven decisions for safer infrastructure</a:t>
            </a:r>
          </a:p>
        </p:txBody>
      </p:sp>
      <p:sp>
        <p:nvSpPr>
          <p:cNvPr id="56" name="Freeform 56"/>
          <p:cNvSpPr/>
          <p:nvPr/>
        </p:nvSpPr>
        <p:spPr>
          <a:xfrm>
            <a:off x="11528440" y="8778386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57" name="TextBox 57"/>
          <p:cNvSpPr txBox="1"/>
          <p:nvPr/>
        </p:nvSpPr>
        <p:spPr>
          <a:xfrm>
            <a:off x="12040246" y="9004680"/>
            <a:ext cx="1483169" cy="21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6"/>
              </a:lnSpc>
            </a:pPr>
            <a:r>
              <a:rPr lang="en-US" sz="1335" b="1" spc="-26">
                <a:solidFill>
                  <a:srgbClr val="ED4923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Risk Identification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2034842" y="9261369"/>
            <a:ext cx="2023597" cy="49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3"/>
              </a:lnSpc>
            </a:pPr>
            <a:r>
              <a:rPr lang="en-US" sz="1335" spc="-2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Spot high-risk conditions before incidents occur</a:t>
            </a:r>
          </a:p>
        </p:txBody>
      </p:sp>
      <p:sp>
        <p:nvSpPr>
          <p:cNvPr id="59" name="Freeform 59"/>
          <p:cNvSpPr/>
          <p:nvPr/>
        </p:nvSpPr>
        <p:spPr>
          <a:xfrm>
            <a:off x="14361330" y="8778386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60" name="TextBox 60"/>
          <p:cNvSpPr txBox="1"/>
          <p:nvPr/>
        </p:nvSpPr>
        <p:spPr>
          <a:xfrm>
            <a:off x="14926402" y="9004680"/>
            <a:ext cx="2189520" cy="21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6"/>
              </a:lnSpc>
            </a:pPr>
            <a:r>
              <a:rPr lang="en-US" sz="1335" b="1" spc="-26">
                <a:solidFill>
                  <a:srgbClr val="ED4923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Emergency preparedness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4924972" y="9261369"/>
            <a:ext cx="2332498" cy="49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3"/>
              </a:lnSpc>
            </a:pPr>
            <a:r>
              <a:rPr lang="en-US" sz="1335" spc="-2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Support timely response and resource allocation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049560" y="2378054"/>
            <a:ext cx="5834608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b="1" spc="-22">
                <a:solidFill>
                  <a:srgbClr val="F0F0F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Severity Prediction Tool</a:t>
            </a:r>
            <a:r>
              <a:rPr lang="en-US" sz="1125" spc="-22">
                <a:solidFill>
                  <a:srgbClr val="F0F0F0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  Road Accident Severity Prediction Using Machine Learning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222291" y="3076655"/>
            <a:ext cx="1956086" cy="257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2"/>
              </a:lnSpc>
            </a:pPr>
            <a:r>
              <a:rPr lang="en-US" sz="1617" b="1" spc="-32">
                <a:solidFill>
                  <a:srgbClr val="F0F0F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Accident Conditions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411966" y="3076655"/>
            <a:ext cx="1778437" cy="257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2"/>
              </a:lnSpc>
            </a:pPr>
            <a:r>
              <a:rPr lang="en-US" sz="1617" b="1" spc="-32">
                <a:solidFill>
                  <a:srgbClr val="F0F0F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Predicted Severity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3083857" y="3076655"/>
            <a:ext cx="1599454" cy="257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2"/>
              </a:lnSpc>
            </a:pPr>
            <a:r>
              <a:rPr lang="en-US" sz="1617" b="1" spc="-32">
                <a:solidFill>
                  <a:srgbClr val="F0F0F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Accident Trends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224079" y="3529390"/>
            <a:ext cx="1777249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4" b="1" spc="-22">
                <a:solidFill>
                  <a:srgbClr val="F0F0F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Weather Condition</a:t>
            </a:r>
            <a:r>
              <a:rPr lang="en-US" sz="1124" spc="-22">
                <a:solidFill>
                  <a:srgbClr val="F0F0F0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             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3137207" y="3529390"/>
            <a:ext cx="227452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62"/>
              </a:lnSpc>
            </a:pPr>
            <a:r>
              <a:rPr lang="en-US" sz="1125" b="1" spc="-22">
                <a:solidFill>
                  <a:srgbClr val="F0F0F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120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237641" y="3800485"/>
            <a:ext cx="421100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b="1" spc="-22">
                <a:solidFill>
                  <a:srgbClr val="F0F0F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  Rainy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3189368" y="4041458"/>
            <a:ext cx="174764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62"/>
              </a:lnSpc>
            </a:pPr>
            <a:r>
              <a:rPr lang="en-US" sz="1125" b="1" spc="-22">
                <a:solidFill>
                  <a:srgbClr val="F0F0F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80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234945" y="4177006"/>
            <a:ext cx="690637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b="1" spc="-22">
                <a:solidFill>
                  <a:srgbClr val="F0F0F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Road Type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484833" y="4381242"/>
            <a:ext cx="896626" cy="199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45"/>
              </a:lnSpc>
            </a:pPr>
            <a:r>
              <a:rPr lang="en-US" sz="1265" b="1" spc="-25">
                <a:solidFill>
                  <a:srgbClr val="F0F0F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Confidence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235544" y="4433040"/>
            <a:ext cx="630762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b="1" spc="-22">
                <a:solidFill>
                  <a:srgbClr val="F0F0F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  Highway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3185371" y="4583648"/>
            <a:ext cx="178801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62"/>
              </a:lnSpc>
            </a:pPr>
            <a:r>
              <a:rPr lang="en-US" sz="1125" b="1" spc="-22">
                <a:solidFill>
                  <a:srgbClr val="F0F0F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40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234149" y="4809561"/>
            <a:ext cx="770285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b="1" spc="-22">
                <a:solidFill>
                  <a:srgbClr val="F0F0F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Time of Day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237428" y="5065595"/>
            <a:ext cx="442380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b="1" spc="-22">
                <a:solidFill>
                  <a:srgbClr val="F0F0F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   Night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3274318" y="5095717"/>
            <a:ext cx="88956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62"/>
              </a:lnSpc>
            </a:pPr>
            <a:r>
              <a:rPr lang="en-US" sz="1124" b="1" spc="-22">
                <a:solidFill>
                  <a:srgbClr val="F0F0F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0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3553681" y="5231265"/>
            <a:ext cx="235937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62"/>
              </a:lnSpc>
            </a:pPr>
            <a:r>
              <a:rPr lang="en-US" sz="1125" b="1" spc="-22">
                <a:solidFill>
                  <a:srgbClr val="F0F0F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Jan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4299359" y="5231265"/>
            <a:ext cx="241480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62"/>
              </a:lnSpc>
            </a:pPr>
            <a:r>
              <a:rPr lang="en-US" sz="1125" b="1" spc="-22">
                <a:solidFill>
                  <a:srgbClr val="F0F0F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Feb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5010944" y="5231265"/>
            <a:ext cx="253318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62"/>
              </a:lnSpc>
            </a:pPr>
            <a:r>
              <a:rPr lang="en-US" sz="1125" b="1" spc="-22">
                <a:solidFill>
                  <a:srgbClr val="F0F0F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Mar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5648684" y="5231265"/>
            <a:ext cx="233132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62"/>
              </a:lnSpc>
            </a:pPr>
            <a:r>
              <a:rPr lang="en-US" sz="1125" b="1" spc="-22">
                <a:solidFill>
                  <a:srgbClr val="F0F0F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Apr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6324044" y="5231265"/>
            <a:ext cx="279937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62"/>
              </a:lnSpc>
            </a:pPr>
            <a:r>
              <a:rPr lang="en-US" sz="1125" b="1" spc="-22">
                <a:solidFill>
                  <a:srgbClr val="F0F0F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May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6979743" y="5231265"/>
            <a:ext cx="241070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62"/>
              </a:lnSpc>
            </a:pPr>
            <a:r>
              <a:rPr lang="en-US" sz="1125" b="1" spc="-22">
                <a:solidFill>
                  <a:srgbClr val="F0F0F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Jun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223390" y="5457177"/>
            <a:ext cx="1846156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b="1" spc="-22">
                <a:solidFill>
                  <a:srgbClr val="F0F0F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Speed Limit</a:t>
            </a:r>
            <a:r>
              <a:rPr lang="en-US" sz="1125" spc="-22">
                <a:solidFill>
                  <a:srgbClr val="F0F0F0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             60 km/h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6332974" y="5562603"/>
            <a:ext cx="835428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b="1" spc="-22">
                <a:solidFill>
                  <a:srgbClr val="F0F0F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Low Severity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9405639" y="5968337"/>
            <a:ext cx="2411092" cy="257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2"/>
              </a:lnSpc>
            </a:pPr>
            <a:r>
              <a:rPr lang="en-US" sz="1617" b="1" spc="-32">
                <a:solidFill>
                  <a:srgbClr val="F0F0F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Top Contributing Factors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6410206" y="6315645"/>
            <a:ext cx="83345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sz="1125" b="1" spc="-22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2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1981636" y="6451193"/>
            <a:ext cx="290474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sz="1125" spc="-22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0.34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6231274" y="6707227"/>
            <a:ext cx="1057748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b="1" spc="-22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Number of Lines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9422198" y="6812653"/>
            <a:ext cx="755162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b="1" spc="-22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Speed Limit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1582640" y="6812653"/>
            <a:ext cx="284794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sz="1125" spc="-22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0.23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6406955" y="6933140"/>
            <a:ext cx="89845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sz="1124" b="1" spc="-22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4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3218683" y="6941379"/>
            <a:ext cx="681202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sz="1125" b="1" spc="-22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Accuracy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4356208" y="6941379"/>
            <a:ext cx="656434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sz="1125" b="1" spc="-22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Precision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5516121" y="6941379"/>
            <a:ext cx="426155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sz="1125" b="1" spc="-22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Recall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6555481" y="6941379"/>
            <a:ext cx="597716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sz="1124" b="1" spc="-22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F1 Score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9422047" y="7113870"/>
            <a:ext cx="770285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b="1" spc="-22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Time of Day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1409350" y="7113870"/>
            <a:ext cx="256328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sz="1125" spc="-22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0.16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1327066" y="7505451"/>
            <a:ext cx="260160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sz="1125" spc="-22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0.14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6319676" y="7565695"/>
            <a:ext cx="264404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sz="1124" b="1" spc="-22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Wet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9418165" y="7851851"/>
            <a:ext cx="1158540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b="1" spc="-22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Surface Condition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1098692" y="7866912"/>
            <a:ext cx="288284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sz="1124" spc="-22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0.08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3079883" y="8025965"/>
            <a:ext cx="1996854" cy="199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5"/>
              </a:lnSpc>
            </a:pPr>
            <a:r>
              <a:rPr lang="en-US" sz="1265" b="1" spc="-25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Model Status: </a:t>
            </a:r>
            <a:r>
              <a:rPr lang="en-US" sz="1265" b="1" spc="-25">
                <a:solidFill>
                  <a:srgbClr val="ED4923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Operational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6778331" y="8101064"/>
            <a:ext cx="1394850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sz="1125" b="1" spc="-22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PREDICT SEVERITY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0670857" y="8213311"/>
            <a:ext cx="1797908" cy="18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125" spc="-22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0        0.1      0.2      0.3      0.4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762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65708" y="889599"/>
            <a:ext cx="6475294" cy="1832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4"/>
              </a:lnSpc>
            </a:pPr>
            <a:r>
              <a:rPr lang="en-US" sz="7124" b="1">
                <a:solidFill>
                  <a:srgbClr val="F8F8F8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Conclusion and Future Scope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2776725"/>
            <a:ext cx="6759560" cy="448211"/>
          </a:xfrm>
          <a:custGeom>
            <a:avLst/>
            <a:gdLst/>
            <a:ahLst/>
            <a:cxnLst/>
            <a:rect l="l" t="t" r="r" b="b"/>
            <a:pathLst>
              <a:path w="6759560" h="448211">
                <a:moveTo>
                  <a:pt x="0" y="0"/>
                </a:moveTo>
                <a:lnTo>
                  <a:pt x="6759560" y="0"/>
                </a:lnTo>
                <a:lnTo>
                  <a:pt x="675956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83900" y="3347737"/>
            <a:ext cx="7334978" cy="64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40">
                <a:solidFill>
                  <a:srgbClr val="F8F8F8"/>
                </a:solidFill>
                <a:latin typeface="Neue Montreal"/>
                <a:ea typeface="Neue Montreal"/>
                <a:cs typeface="Neue Montreal"/>
                <a:sym typeface="Neue Montreal"/>
              </a:rPr>
              <a:t>Machine learning uncovers patterns in historical accident data to predict severity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4308" y="4236327"/>
            <a:ext cx="7294154" cy="64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40">
                <a:solidFill>
                  <a:srgbClr val="F8F8F8"/>
                </a:solidFill>
                <a:latin typeface="Neue Montreal"/>
                <a:ea typeface="Neue Montreal"/>
                <a:cs typeface="Neue Montreal"/>
                <a:sym typeface="Neue Montreal"/>
              </a:rPr>
              <a:t>Multiple algorithms evaluated to achieve optimal classification performance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6320" y="5109856"/>
            <a:ext cx="7093042" cy="64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40">
                <a:solidFill>
                  <a:srgbClr val="F8F8F8"/>
                </a:solidFill>
                <a:latin typeface="Neue Montreal"/>
                <a:ea typeface="Neue Montreal"/>
                <a:cs typeface="Neue Montreal"/>
                <a:sym typeface="Neue Montreal"/>
              </a:rPr>
              <a:t>Model reliability depends on data quality, class balance, and rigorous evaluation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3618" y="5998445"/>
            <a:ext cx="7363186" cy="64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40">
                <a:solidFill>
                  <a:srgbClr val="F8F8F8"/>
                </a:solidFill>
                <a:latin typeface="Neue Montreal"/>
                <a:ea typeface="Neue Montreal"/>
                <a:cs typeface="Neue Montreal"/>
                <a:sym typeface="Neue Montreal"/>
              </a:rPr>
              <a:t>Future work includes real-time data integration, explainable AI, and improved detection of severe cases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2795" y="6887035"/>
            <a:ext cx="7445485" cy="64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40">
                <a:solidFill>
                  <a:srgbClr val="F8F8F8"/>
                </a:solidFill>
                <a:latin typeface="Neue Montreal"/>
                <a:ea typeface="Neue Montreal"/>
                <a:cs typeface="Neue Montreal"/>
                <a:sym typeface="Neue Montreal"/>
              </a:rPr>
              <a:t>Build an interactive web dashboard and validate models across regions and time frames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1425" y="8336930"/>
            <a:ext cx="4582475" cy="797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2"/>
              </a:lnSpc>
            </a:pPr>
            <a:r>
              <a:rPr lang="en-US" sz="6002" b="1">
                <a:solidFill>
                  <a:srgbClr val="E8401B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968</Words>
  <Application>Microsoft Office PowerPoint</Application>
  <PresentationFormat>Custom</PresentationFormat>
  <Paragraphs>309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Neue Montreal Bold</vt:lpstr>
      <vt:lpstr>Inter Medium</vt:lpstr>
      <vt:lpstr>Neue Montreal</vt:lpstr>
      <vt:lpstr>Arial</vt:lpstr>
      <vt:lpstr>Neue Montreal Medium</vt:lpstr>
      <vt:lpstr>Inter</vt:lpstr>
      <vt:lpstr>Calibri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 Accident Severity</dc:title>
  <cp:lastModifiedBy>M.Yashwanth Reddy</cp:lastModifiedBy>
  <cp:revision>2</cp:revision>
  <dcterms:created xsi:type="dcterms:W3CDTF">2006-08-16T00:00:00Z</dcterms:created>
  <dcterms:modified xsi:type="dcterms:W3CDTF">2026-10-10T04:23:42Z</dcterms:modified>
  <dc:identifier>DAHXk3OZJxo</dc:identifier>
</cp:coreProperties>
</file>